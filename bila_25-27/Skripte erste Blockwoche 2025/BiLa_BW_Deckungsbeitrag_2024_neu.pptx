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60" r:id="rId2"/>
  </p:sldMasterIdLst>
  <p:notesMasterIdLst>
    <p:notesMasterId r:id="rId67"/>
  </p:notesMasterIdLst>
  <p:handoutMasterIdLst>
    <p:handoutMasterId r:id="rId68"/>
  </p:handoutMasterIdLst>
  <p:sldIdLst>
    <p:sldId id="256" r:id="rId3"/>
    <p:sldId id="258" r:id="rId4"/>
    <p:sldId id="260" r:id="rId5"/>
    <p:sldId id="257" r:id="rId6"/>
    <p:sldId id="259" r:id="rId7"/>
    <p:sldId id="342" r:id="rId8"/>
    <p:sldId id="261" r:id="rId9"/>
    <p:sldId id="349" r:id="rId10"/>
    <p:sldId id="272" r:id="rId11"/>
    <p:sldId id="262" r:id="rId12"/>
    <p:sldId id="343" r:id="rId13"/>
    <p:sldId id="264" r:id="rId14"/>
    <p:sldId id="265" r:id="rId15"/>
    <p:sldId id="348" r:id="rId16"/>
    <p:sldId id="332" r:id="rId17"/>
    <p:sldId id="341" r:id="rId18"/>
    <p:sldId id="333" r:id="rId19"/>
    <p:sldId id="276" r:id="rId20"/>
    <p:sldId id="303" r:id="rId21"/>
    <p:sldId id="277" r:id="rId22"/>
    <p:sldId id="304" r:id="rId23"/>
    <p:sldId id="278" r:id="rId24"/>
    <p:sldId id="352" r:id="rId25"/>
    <p:sldId id="305" r:id="rId26"/>
    <p:sldId id="280" r:id="rId27"/>
    <p:sldId id="306" r:id="rId28"/>
    <p:sldId id="281" r:id="rId29"/>
    <p:sldId id="353" r:id="rId30"/>
    <p:sldId id="307" r:id="rId31"/>
    <p:sldId id="282" r:id="rId32"/>
    <p:sldId id="308" r:id="rId33"/>
    <p:sldId id="283" r:id="rId34"/>
    <p:sldId id="284" r:id="rId35"/>
    <p:sldId id="286" r:id="rId36"/>
    <p:sldId id="312" r:id="rId37"/>
    <p:sldId id="287" r:id="rId38"/>
    <p:sldId id="313" r:id="rId39"/>
    <p:sldId id="288" r:id="rId40"/>
    <p:sldId id="314" r:id="rId41"/>
    <p:sldId id="289" r:id="rId42"/>
    <p:sldId id="315" r:id="rId43"/>
    <p:sldId id="290" r:id="rId44"/>
    <p:sldId id="316" r:id="rId45"/>
    <p:sldId id="317" r:id="rId46"/>
    <p:sldId id="293" r:id="rId47"/>
    <p:sldId id="319" r:id="rId48"/>
    <p:sldId id="294" r:id="rId49"/>
    <p:sldId id="321" r:id="rId50"/>
    <p:sldId id="296" r:id="rId51"/>
    <p:sldId id="322" r:id="rId52"/>
    <p:sldId id="345" r:id="rId53"/>
    <p:sldId id="302" r:id="rId54"/>
    <p:sldId id="344" r:id="rId55"/>
    <p:sldId id="325" r:id="rId56"/>
    <p:sldId id="324" r:id="rId57"/>
    <p:sldId id="334" r:id="rId58"/>
    <p:sldId id="263" r:id="rId59"/>
    <p:sldId id="336" r:id="rId60"/>
    <p:sldId id="337" r:id="rId61"/>
    <p:sldId id="346" r:id="rId62"/>
    <p:sldId id="339" r:id="rId63"/>
    <p:sldId id="350" r:id="rId64"/>
    <p:sldId id="351" r:id="rId65"/>
    <p:sldId id="301" r:id="rId66"/>
  </p:sldIdLst>
  <p:sldSz cx="9906000" cy="6858000" type="A4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60E57280-C501-4601-A14D-07565738B6A5}">
          <p14:sldIdLst>
            <p14:sldId id="256"/>
            <p14:sldId id="258"/>
            <p14:sldId id="260"/>
            <p14:sldId id="257"/>
            <p14:sldId id="259"/>
            <p14:sldId id="342"/>
            <p14:sldId id="261"/>
            <p14:sldId id="349"/>
            <p14:sldId id="272"/>
            <p14:sldId id="262"/>
            <p14:sldId id="343"/>
            <p14:sldId id="264"/>
            <p14:sldId id="265"/>
            <p14:sldId id="348"/>
            <p14:sldId id="332"/>
            <p14:sldId id="341"/>
            <p14:sldId id="333"/>
            <p14:sldId id="276"/>
            <p14:sldId id="303"/>
            <p14:sldId id="277"/>
            <p14:sldId id="304"/>
            <p14:sldId id="278"/>
            <p14:sldId id="352"/>
            <p14:sldId id="305"/>
            <p14:sldId id="280"/>
            <p14:sldId id="306"/>
            <p14:sldId id="281"/>
            <p14:sldId id="353"/>
            <p14:sldId id="307"/>
            <p14:sldId id="282"/>
            <p14:sldId id="308"/>
            <p14:sldId id="283"/>
            <p14:sldId id="284"/>
            <p14:sldId id="286"/>
            <p14:sldId id="312"/>
            <p14:sldId id="287"/>
            <p14:sldId id="313"/>
            <p14:sldId id="288"/>
            <p14:sldId id="314"/>
            <p14:sldId id="289"/>
            <p14:sldId id="315"/>
            <p14:sldId id="290"/>
            <p14:sldId id="316"/>
            <p14:sldId id="317"/>
            <p14:sldId id="293"/>
            <p14:sldId id="319"/>
            <p14:sldId id="294"/>
            <p14:sldId id="321"/>
            <p14:sldId id="296"/>
            <p14:sldId id="322"/>
            <p14:sldId id="345"/>
            <p14:sldId id="302"/>
            <p14:sldId id="344"/>
            <p14:sldId id="325"/>
            <p14:sldId id="324"/>
            <p14:sldId id="334"/>
            <p14:sldId id="263"/>
            <p14:sldId id="336"/>
            <p14:sldId id="337"/>
            <p14:sldId id="346"/>
            <p14:sldId id="339"/>
            <p14:sldId id="350"/>
            <p14:sldId id="351"/>
          </p14:sldIdLst>
        </p14:section>
        <p14:section name="Abschnitt ohne Titel" id="{01F5D0FF-5C09-45F1-9809-0ADC983A666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33CC33"/>
    <a:srgbClr val="339933"/>
    <a:srgbClr val="FF6600"/>
    <a:srgbClr val="FFCC66"/>
    <a:srgbClr val="2DF3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83333" autoAdjust="0"/>
  </p:normalViewPr>
  <p:slideViewPr>
    <p:cSldViewPr snapToGrid="0" showGuides="1">
      <p:cViewPr varScale="1">
        <p:scale>
          <a:sx n="102" d="100"/>
          <a:sy n="102" d="100"/>
        </p:scale>
        <p:origin x="1356" y="108"/>
      </p:cViewPr>
      <p:guideLst>
        <p:guide orient="horz" pos="2160"/>
        <p:guide pos="312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20"/>
    </p:cViewPr>
  </p:sorterViewPr>
  <p:notesViewPr>
    <p:cSldViewPr snapToGrid="0" showGuides="1">
      <p:cViewPr varScale="1">
        <p:scale>
          <a:sx n="113" d="100"/>
          <a:sy n="113" d="100"/>
        </p:scale>
        <p:origin x="-210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" y="2"/>
            <a:ext cx="2971601" cy="459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Arial" charset="0"/>
              </a:defRPr>
            </a:lvl1pPr>
          </a:lstStyle>
          <a:p>
            <a:r>
              <a:rPr lang="de-DE" dirty="0"/>
              <a:t>Amt für Ernährung, Landwirtschaft und Forsten Kempten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8020" y="2"/>
            <a:ext cx="2893777" cy="459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Arial" charset="0"/>
              </a:defRPr>
            </a:lvl1pPr>
          </a:lstStyle>
          <a:p>
            <a:fld id="{8BBCB294-DAD0-4271-B88D-262C874E76ED}" type="datetime1">
              <a:rPr lang="de-DE"/>
              <a:pPr/>
              <a:t>25.09.2025</a:t>
            </a:fld>
            <a:endParaRPr lang="de-DE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" y="9422359"/>
            <a:ext cx="2971601" cy="537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b" anchorCtr="0" compatLnSpc="1">
            <a:prstTxWarp prst="textNoShape">
              <a:avLst/>
            </a:prstTxWarp>
          </a:bodyPr>
          <a:lstStyle>
            <a:lvl1pPr>
              <a:defRPr sz="1400" b="1">
                <a:latin typeface="Arial" charset="0"/>
              </a:defRPr>
            </a:lvl1pPr>
          </a:lstStyle>
          <a:p>
            <a:r>
              <a:rPr lang="de-DE" dirty="0"/>
              <a:t>BiLa 2018/19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8020" y="9422359"/>
            <a:ext cx="2893777" cy="537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b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Arial" charset="0"/>
              </a:defRPr>
            </a:lvl1pPr>
          </a:lstStyle>
          <a:p>
            <a:fld id="{D5A0244E-F1F3-4139-B9F4-61206D0F50BE}" type="slidenum">
              <a:rPr lang="de-DE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16925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2941424" cy="52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Arial" charset="0"/>
              </a:defRPr>
            </a:lvl1pPr>
          </a:lstStyle>
          <a:p>
            <a:r>
              <a:rPr lang="de-DE" dirty="0"/>
              <a:t>Amt für Ernährung, Landwirtschaft und Forsten Kempten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8961" y="4"/>
            <a:ext cx="2941424" cy="52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fld id="{221EB61C-E1CC-47DE-84DB-F7202D347FF1}" type="datetime1">
              <a:rPr lang="de-DE"/>
              <a:pPr/>
              <a:t>25.09.2025</a:t>
            </a:fld>
            <a:endParaRPr lang="de-DE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52475"/>
            <a:ext cx="4876800" cy="3376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31885" y="4355636"/>
            <a:ext cx="6346614" cy="488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2127"/>
            <a:ext cx="2941424" cy="450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b" anchorCtr="0" compatLnSpc="1">
            <a:prstTxWarp prst="textNoShape">
              <a:avLst/>
            </a:prstTxWarp>
          </a:bodyPr>
          <a:lstStyle>
            <a:lvl1pPr>
              <a:defRPr sz="1400" b="1">
                <a:latin typeface="Arial" charset="0"/>
              </a:defRPr>
            </a:lvl1pPr>
          </a:lstStyle>
          <a:p>
            <a:r>
              <a:rPr lang="de-DE" dirty="0"/>
              <a:t>BiLa 2018/19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8961" y="9462127"/>
            <a:ext cx="2941424" cy="450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5" tIns="45777" rIns="91555" bIns="45777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fld id="{32CB5DB9-D2F8-4D7F-97DE-F9BFEDF5CC40}" type="slidenum">
              <a:rPr lang="de-DE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622552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de-DE" dirty="0"/>
              <a:t>Amt für Ernährung, Landwirtschaft und Forsten Kempten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C497DAF-FD1F-463D-9637-906D4005A41A}" type="datetime1">
              <a:rPr lang="de-DE"/>
              <a:pPr/>
              <a:t>25.09.2025</a:t>
            </a:fld>
            <a:endParaRPr lang="de-DE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3DF967-2EAD-4577-ADCF-216F73A97BD6}" type="slidenum">
              <a:rPr lang="de-DE"/>
              <a:pPr/>
              <a:t>1</a:t>
            </a:fld>
            <a:endParaRPr lang="de-DE" dirty="0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752475"/>
            <a:ext cx="4876800" cy="337661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BiLa 2018/19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Welches Beispiel gib es noch?</a:t>
            </a:r>
          </a:p>
          <a:p>
            <a:r>
              <a:rPr lang="de-DE" dirty="0"/>
              <a:t>Ziegen, Schafe …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1699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Betriebszweig</a:t>
            </a:r>
            <a:r>
              <a:rPr lang="de-DE" baseline="0" dirty="0"/>
              <a:t> Rinderhaltung: welche möglichen Produktionsverfahren??</a:t>
            </a:r>
          </a:p>
          <a:p>
            <a:r>
              <a:rPr lang="de-DE" dirty="0"/>
              <a:t>Betrieb 1: Gewerbe Kommunalarbeiten</a:t>
            </a:r>
          </a:p>
          <a:p>
            <a:r>
              <a:rPr lang="de-DE" dirty="0"/>
              <a:t>Betrieb 2: Landwirtschaft =&gt; Futterbau Marktfruchtbau Rinderhaltung =&gt; Marktfruchtbau =&gt;Winterweizen Raps Zuckerrüben</a:t>
            </a:r>
          </a:p>
          <a:p>
            <a:r>
              <a:rPr lang="de-DE" dirty="0"/>
              <a:t>Betrieb 3: PV</a:t>
            </a: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dirty="0"/>
              <a:t>Amt für Ernährung, Landwirtschaft und Forsten Kempten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BiLa 2018/19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9060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Betriebszweig</a:t>
            </a:r>
            <a:r>
              <a:rPr lang="de-DE" baseline="0" dirty="0"/>
              <a:t> Rinderhaltung: welche möglichen Produktionsverfahren??</a:t>
            </a:r>
          </a:p>
          <a:p>
            <a:r>
              <a:rPr lang="de-DE" dirty="0"/>
              <a:t>Betrieb 1: Gewerbe Kommunalarbeiten</a:t>
            </a:r>
          </a:p>
          <a:p>
            <a:r>
              <a:rPr lang="de-DE" dirty="0"/>
              <a:t>Betrieb 2: Landwirtschaft =&gt; Futterbau Marktfruchtbau Rinderhaltung =&gt; Marktfruchtbau =&gt;Winterweizen Raps Zuckerrüben</a:t>
            </a:r>
          </a:p>
          <a:p>
            <a:r>
              <a:rPr lang="de-DE" dirty="0"/>
              <a:t>Betrieb 3: PV</a:t>
            </a: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dirty="0"/>
              <a:t>Amt für Ernährung, Landwirtschaft und Forsten Kempten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BiLa 2018/19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5997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z.B. Färsenmast, Jungviehaufzucht, Futterbau, Kartoffelbau, …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4411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6781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Gesamtdeckungsbeitrag entspricht </a:t>
            </a:r>
            <a:r>
              <a:rPr lang="de-DE" b="1" dirty="0"/>
              <a:t>nicht</a:t>
            </a:r>
            <a:r>
              <a:rPr lang="de-DE" dirty="0"/>
              <a:t> dem Gewinn, sondern dient vor allem zur Deckung der festen Kosten</a:t>
            </a:r>
          </a:p>
          <a:p>
            <a:r>
              <a:rPr lang="de-DE" dirty="0"/>
              <a:t>Gewinn ergibt sich nach Abzug von Zins Pacht und Mieterträge bzw. Aufwand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3001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89013" y="752475"/>
            <a:ext cx="4876800" cy="33766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Grafik: cow-1472655.jpeg,</a:t>
            </a:r>
            <a:r>
              <a:rPr lang="de-DE" baseline="0" dirty="0"/>
              <a:t> user: </a:t>
            </a:r>
            <a:r>
              <a:rPr lang="de-DE" dirty="0"/>
              <a:t>Gorkhs, pixabay.de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25DF8-CDEC-4AB7-887C-B7BD3A4C5EA8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1763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89013" y="752475"/>
            <a:ext cx="4876800" cy="33766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Grafik: milk-can-1990084.jpeg,</a:t>
            </a:r>
            <a:r>
              <a:rPr lang="de-DE" baseline="0" dirty="0"/>
              <a:t> user: </a:t>
            </a:r>
            <a:r>
              <a:rPr lang="de-DE" dirty="0"/>
              <a:t>pixel2013, pixabay.de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25DF8-CDEC-4AB7-887C-B7BD3A4C5EA8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9099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89013" y="752475"/>
            <a:ext cx="4876800" cy="33766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Grafik: milk-can-1990084.jpeg,</a:t>
            </a:r>
            <a:r>
              <a:rPr lang="de-DE" baseline="0" dirty="0"/>
              <a:t> user: </a:t>
            </a:r>
            <a:r>
              <a:rPr lang="de-DE" dirty="0"/>
              <a:t>pixel2013, pixabay.de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25DF8-CDEC-4AB7-887C-B7BD3A4C5EA8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9099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89013" y="752475"/>
            <a:ext cx="4876800" cy="33766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Grafik: cow-1472655.jpeg,</a:t>
            </a:r>
            <a:r>
              <a:rPr lang="de-DE" baseline="0" dirty="0"/>
              <a:t> user: </a:t>
            </a:r>
            <a:r>
              <a:rPr lang="de-DE" dirty="0"/>
              <a:t>Gorkhs, pixabay.de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25DF8-CDEC-4AB7-887C-B7BD3A4C5EA8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9817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89013" y="752475"/>
            <a:ext cx="4876800" cy="33766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Grafik: cow-1472655.jpeg,</a:t>
            </a:r>
            <a:r>
              <a:rPr lang="de-DE" baseline="0" dirty="0"/>
              <a:t> user: </a:t>
            </a:r>
            <a:r>
              <a:rPr lang="de-DE" dirty="0"/>
              <a:t>Gorkhs, pixabay.de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25DF8-CDEC-4AB7-887C-B7BD3A4C5EA8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9817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2448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89013" y="752475"/>
            <a:ext cx="4876800" cy="33766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Grafik: veal-1472658,</a:t>
            </a:r>
            <a:r>
              <a:rPr lang="de-DE" baseline="0" dirty="0"/>
              <a:t> user: </a:t>
            </a:r>
            <a:r>
              <a:rPr lang="de-DE" dirty="0"/>
              <a:t>Gorkhs, pixabay.de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25DF8-CDEC-4AB7-887C-B7BD3A4C5EA8}" type="slidenum">
              <a:rPr lang="de-DE" smtClean="0"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8639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89013" y="752475"/>
            <a:ext cx="4876800" cy="33766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Grafik: veal-1472658,</a:t>
            </a:r>
            <a:r>
              <a:rPr lang="de-DE" baseline="0" dirty="0"/>
              <a:t> user: </a:t>
            </a:r>
            <a:r>
              <a:rPr lang="de-DE" dirty="0"/>
              <a:t>Gorkhs, pixabay.de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25DF8-CDEC-4AB7-887C-B7BD3A4C5EA8}" type="slidenum">
              <a:rPr lang="de-DE" smtClean="0"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8639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6364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7431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Remontierungsrate bezeichnet den Anteil der Färsen eines Bestandes, welche für den Erhalt des Durchschnittskuhbestandes eingesetzt werden. </a:t>
            </a:r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36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7355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Vollmilch = Substitutionswert = </a:t>
            </a:r>
            <a:r>
              <a:rPr lang="de-DE" dirty="0" err="1"/>
              <a:t>var</a:t>
            </a:r>
            <a:r>
              <a:rPr lang="de-DE" dirty="0"/>
              <a:t>. Produktionskosten je kg Milch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38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6593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42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0425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45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9337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Übertrag auf Arbeitsblatt !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50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25503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Deckungsbeitrag II = DB I - Grundfutterkosten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51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75690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53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71081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dirty="0"/>
              <a:t>Amt für Ernährung, Landwirtschaft und Forsten Kempten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 dirty="0"/>
              <a:t>28.09.2018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BiLa 2018/19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54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3611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60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37422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3EA1-3C59-8533-9DC8-A1955493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201F7A-C198-B519-C5C6-A1964E176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939A816-00FE-55AC-81CA-47E135746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Courier New" panose="02070309020205020404" pitchFamily="49" charset="0"/>
              <a:buNone/>
              <a:tabLst>
                <a:tab pos="3771900" algn="l"/>
              </a:tabLst>
            </a:pPr>
            <a:r>
              <a:rPr lang="de-DE" dirty="0"/>
              <a:t>1.</a:t>
            </a:r>
            <a:r>
              <a:rPr lang="de-DE" sz="18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Vergleich verschiedener Produktionsverfahren im Betrieb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Font typeface="Courier New" panose="02070309020205020404" pitchFamily="49" charset="0"/>
              <a:buNone/>
              <a:tabLst>
                <a:tab pos="3771900" algn="l"/>
              </a:tabLst>
            </a:pPr>
            <a:r>
              <a:rPr lang="de-DE" sz="18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Berechnung der Faktorverwertung (</a:t>
            </a:r>
            <a:r>
              <a:rPr lang="de-DE" sz="1800" i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AKh</a:t>
            </a:r>
            <a:r>
              <a:rPr lang="de-DE" sz="18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Fläche)</a:t>
            </a:r>
            <a:endParaRPr lang="de-DE" sz="1800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Font typeface="Courier New" panose="02070309020205020404" pitchFamily="49" charset="0"/>
              <a:buNone/>
              <a:tabLst>
                <a:tab pos="3771900" algn="l"/>
              </a:tabLst>
            </a:pPr>
            <a:r>
              <a:rPr lang="de-DE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de-DE" sz="18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Beurteilung der Wirtschaftlichkeit von Produktionsverfahren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Font typeface="Courier New" panose="02070309020205020404" pitchFamily="49" charset="0"/>
              <a:buNone/>
              <a:tabLst>
                <a:tab pos="3771900" algn="l"/>
              </a:tabLst>
            </a:pPr>
            <a:r>
              <a:rPr lang="de-DE" sz="18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Deckungsbeitragsvergleich mit anderen Betrieben 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Font typeface="Courier New" panose="02070309020205020404" pitchFamily="49" charset="0"/>
              <a:buNone/>
              <a:tabLst>
                <a:tab pos="3771900" algn="l"/>
              </a:tabLst>
            </a:pPr>
            <a:r>
              <a:rPr lang="de-DE" sz="18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Zukunftsplanung für den Betrieb</a:t>
            </a:r>
          </a:p>
          <a:p>
            <a:pPr marL="0" lvl="0" indent="0">
              <a:buFont typeface="Courier New" panose="02070309020205020404" pitchFamily="49" charset="0"/>
              <a:buNone/>
              <a:tabLst>
                <a:tab pos="3771900" algn="l"/>
              </a:tabLst>
            </a:pPr>
            <a:r>
              <a:rPr lang="de-DE" sz="18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3771900" algn="l"/>
              </a:tabLst>
            </a:pPr>
            <a:r>
              <a:rPr lang="de-DE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EA58DD1F-1045-0004-9716-1F83E8E8554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Amt für Ernährung, Landwirtschaft und Forsten Kempten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D953D5-3251-6DA8-0477-DED02019CC0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21EB61C-E1CC-47DE-84DB-F7202D347FF1}" type="datetime1">
              <a:rPr lang="de-DE" smtClean="0"/>
              <a:pPr/>
              <a:t>25.09.2025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E5A7E5-7547-6BFE-6F9A-21EB594767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BiLa 2018/19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D1EEAB-EAB7-79CE-A3A1-A952DF9F3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B5DB9-D2F8-4D7F-97DE-F9BFEDF5CC40}" type="slidenum">
              <a:rPr lang="de-DE" smtClean="0"/>
              <a:pPr/>
              <a:t>62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6306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152402" y="1828800"/>
            <a:ext cx="9601201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52402" y="3429000"/>
            <a:ext cx="9601201" cy="1752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168" name="Rectangle 24"/>
          <p:cNvSpPr>
            <a:spLocks noChangeArrowheads="1"/>
          </p:cNvSpPr>
          <p:nvPr userDrawn="1"/>
        </p:nvSpPr>
        <p:spPr bwMode="auto">
          <a:xfrm>
            <a:off x="201615" y="1355727"/>
            <a:ext cx="9525000" cy="36513"/>
          </a:xfrm>
          <a:prstGeom prst="rect">
            <a:avLst/>
          </a:prstGeom>
          <a:solidFill>
            <a:srgbClr val="33993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6173" name="Line 29"/>
          <p:cNvSpPr>
            <a:spLocks noChangeShapeType="1"/>
          </p:cNvSpPr>
          <p:nvPr userDrawn="1"/>
        </p:nvSpPr>
        <p:spPr bwMode="auto">
          <a:xfrm>
            <a:off x="190501" y="6159500"/>
            <a:ext cx="9525000" cy="0"/>
          </a:xfrm>
          <a:prstGeom prst="line">
            <a:avLst/>
          </a:prstGeom>
          <a:noFill/>
          <a:ln w="9525">
            <a:solidFill>
              <a:srgbClr val="3399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5421" y="290245"/>
            <a:ext cx="9555163" cy="79851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52402" y="1503364"/>
            <a:ext cx="4724399" cy="4592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29200" y="1503364"/>
            <a:ext cx="4724399" cy="4592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7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2" y="2174875"/>
            <a:ext cx="43767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>
          <a:xfrm>
            <a:off x="152403" y="6337302"/>
            <a:ext cx="1239837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 </a:t>
            </a:r>
            <a:fld id="{750504A5-53BA-4E72-9E58-A749FAA32E3E}" type="slidenum">
              <a:rPr lang="de-DE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2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2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2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>
          <a:xfrm>
            <a:off x="152403" y="6337302"/>
            <a:ext cx="1239837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 </a:t>
            </a:r>
            <a:fld id="{CF778934-DA29-4F18-8B86-108BE74AF370}" type="slidenum">
              <a:rPr lang="de-DE"/>
              <a:pPr/>
              <a:t>‹Nr.›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52402" y="6491288"/>
            <a:ext cx="6985000" cy="309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2"/>
          </p:nvPr>
        </p:nvSpPr>
        <p:spPr>
          <a:xfrm>
            <a:off x="1422400" y="6337300"/>
            <a:ext cx="2349500" cy="2873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52403" y="6337302"/>
            <a:ext cx="1239837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 </a:t>
            </a:r>
            <a:fld id="{E09A8AAF-AB0C-469C-84A4-5B58DB5FF6E3}" type="slidenum">
              <a:rPr lang="de-DE"/>
              <a:pPr/>
              <a:t>‹Nr.›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52402" y="6491288"/>
            <a:ext cx="6985000" cy="309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>
          <a:xfrm>
            <a:off x="1422400" y="6337300"/>
            <a:ext cx="2349500" cy="2873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353300" y="492126"/>
            <a:ext cx="2400300" cy="560387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52401" y="492126"/>
            <a:ext cx="7048500" cy="560387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52403" y="6337302"/>
            <a:ext cx="1239837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 </a:t>
            </a:r>
            <a:fld id="{34730D44-0804-4D6E-88D0-9BE3A1E2146D}" type="slidenum">
              <a:rPr lang="de-DE"/>
              <a:pPr/>
              <a:t>‹Nr.›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52402" y="6491288"/>
            <a:ext cx="6985000" cy="309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>
          <a:xfrm>
            <a:off x="1422400" y="6337300"/>
            <a:ext cx="2349500" cy="2873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29200" y="1600201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7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2" y="2174875"/>
            <a:ext cx="43767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2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2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2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40"/>
            <a:ext cx="653415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90501" y="906402"/>
            <a:ext cx="9525000" cy="36513"/>
          </a:xfrm>
          <a:prstGeom prst="rect">
            <a:avLst/>
          </a:prstGeom>
          <a:solidFill>
            <a:srgbClr val="33993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52403" y="344384"/>
            <a:ext cx="9555163" cy="534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2" y="1135117"/>
            <a:ext cx="9601201" cy="4960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071" name="Line 47"/>
          <p:cNvSpPr>
            <a:spLocks noChangeShapeType="1"/>
          </p:cNvSpPr>
          <p:nvPr/>
        </p:nvSpPr>
        <p:spPr bwMode="auto">
          <a:xfrm>
            <a:off x="190501" y="6159500"/>
            <a:ext cx="9525000" cy="0"/>
          </a:xfrm>
          <a:prstGeom prst="line">
            <a:avLst/>
          </a:prstGeom>
          <a:noFill/>
          <a:ln w="9525">
            <a:solidFill>
              <a:srgbClr val="3399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4" name="Textfeld 3"/>
          <p:cNvSpPr txBox="1"/>
          <p:nvPr userDrawn="1"/>
        </p:nvSpPr>
        <p:spPr>
          <a:xfrm>
            <a:off x="269332" y="6398446"/>
            <a:ext cx="23319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2D3AC57-F792-42E6-8FB0-58DC31DD39A0}" type="slidenum">
              <a:rPr lang="de-DE" sz="1200" smtClean="0">
                <a:latin typeface="+mn-lt"/>
              </a:rPr>
              <a:t>‹Nr.›</a:t>
            </a:fld>
            <a:endParaRPr lang="de-DE" sz="1200" dirty="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377825" indent="-377825" algn="l" rtl="0" eaLnBrk="1" fontAlgn="base" hangingPunct="1">
        <a:spcBef>
          <a:spcPct val="30000"/>
        </a:spcBef>
        <a:spcAft>
          <a:spcPct val="0"/>
        </a:spcAft>
        <a:buBlip>
          <a:blip r:embed="rId13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65163" indent="-285750" algn="l" rtl="0" eaLnBrk="1" fontAlgn="base" hangingPunct="1">
        <a:spcBef>
          <a:spcPct val="3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</a:defRPr>
      </a:lvl2pPr>
      <a:lvl3pPr marL="1071563" indent="-404813" algn="l" rtl="0" eaLnBrk="1" fontAlgn="base" hangingPunct="1">
        <a:spcBef>
          <a:spcPct val="30000"/>
        </a:spcBef>
        <a:spcAft>
          <a:spcPct val="0"/>
        </a:spcAft>
        <a:buChar char="—"/>
        <a:defRPr sz="2800">
          <a:solidFill>
            <a:schemeClr val="tx1"/>
          </a:solidFill>
          <a:latin typeface="+mn-lt"/>
        </a:defRPr>
      </a:lvl3pPr>
      <a:lvl4pPr marL="1487488" indent="-414338" algn="l" rtl="0" eaLnBrk="1" fontAlgn="base" hangingPunct="1">
        <a:spcBef>
          <a:spcPct val="30000"/>
        </a:spcBef>
        <a:spcAft>
          <a:spcPct val="0"/>
        </a:spcAft>
        <a:buFont typeface="Wingdings" pitchFamily="2" charset="2"/>
        <a:buChar char="v"/>
        <a:defRPr sz="2800">
          <a:solidFill>
            <a:schemeClr val="tx1"/>
          </a:solidFill>
          <a:latin typeface="+mn-lt"/>
        </a:defRPr>
      </a:lvl4pPr>
      <a:lvl5pPr marL="2209800" indent="-228600" algn="l" rtl="0" eaLnBrk="1" fontAlgn="base" hangingPunct="1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5pPr>
      <a:lvl6pPr marL="2667000" indent="-228600" algn="l" rtl="0" eaLnBrk="1" fontAlgn="base" hangingPunct="1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6pPr>
      <a:lvl7pPr marL="3124200" indent="-228600" algn="l" rtl="0" eaLnBrk="1" fontAlgn="base" hangingPunct="1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7pPr>
      <a:lvl8pPr marL="3581400" indent="-228600" algn="l" rtl="0" eaLnBrk="1" fontAlgn="base" hangingPunct="1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8pPr>
      <a:lvl9pPr marL="4038600" indent="-228600" algn="l" rtl="0" eaLnBrk="1" fontAlgn="base" hangingPunct="1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7A83D-9F8B-414E-8F52-358A0FF87737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de-DE" dirty="0"/>
              <a:t>Betriebswirtschaftliche Grundlagen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304799" y="2739070"/>
            <a:ext cx="9601201" cy="1752600"/>
          </a:xfrm>
        </p:spPr>
        <p:txBody>
          <a:bodyPr/>
          <a:lstStyle/>
          <a:p>
            <a:pPr>
              <a:spcBef>
                <a:spcPts val="0"/>
              </a:spcBef>
            </a:pPr>
            <a:endParaRPr lang="de-DE" dirty="0"/>
          </a:p>
          <a:p>
            <a:pPr>
              <a:spcBef>
                <a:spcPts val="0"/>
              </a:spcBef>
            </a:pPr>
            <a:r>
              <a:rPr lang="de-DE" dirty="0"/>
              <a:t>Deckungsbeitrag</a:t>
            </a:r>
          </a:p>
          <a:p>
            <a:pPr>
              <a:spcBef>
                <a:spcPts val="0"/>
              </a:spcBef>
            </a:pPr>
            <a:endParaRPr lang="de-DE" dirty="0"/>
          </a:p>
          <a:p>
            <a:pPr marL="457200" indent="-457200">
              <a:spcBef>
                <a:spcPts val="0"/>
              </a:spcBef>
              <a:buFontTx/>
              <a:buChar char="-"/>
            </a:pPr>
            <a:r>
              <a:rPr lang="de-DE" sz="2800" dirty="0"/>
              <a:t>Bildungsprogramm Landwirt –</a:t>
            </a:r>
          </a:p>
          <a:p>
            <a:pPr marL="457200" indent="-457200">
              <a:spcBef>
                <a:spcPts val="0"/>
              </a:spcBef>
              <a:buFontTx/>
              <a:buChar char="-"/>
            </a:pPr>
            <a:endParaRPr lang="de-DE" sz="2800" dirty="0"/>
          </a:p>
          <a:p>
            <a:pPr marL="457200" indent="-457200">
              <a:spcBef>
                <a:spcPts val="0"/>
              </a:spcBef>
              <a:buFontTx/>
              <a:buChar char="-"/>
            </a:pPr>
            <a:r>
              <a:rPr lang="de-DE" sz="2800" dirty="0"/>
              <a:t>Stefan Zimmermann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dirty="0"/>
              <a:t>Produktionsverfahren</a:t>
            </a:r>
          </a:p>
          <a:p>
            <a:pPr marL="514350" indent="-514350">
              <a:buAutoNum type="arabicPeriod"/>
            </a:pPr>
            <a:r>
              <a:rPr lang="de-DE" dirty="0"/>
              <a:t>Kenndaten eines Produktionsverfahrens</a:t>
            </a:r>
          </a:p>
          <a:p>
            <a:pPr marL="514350" indent="-514350">
              <a:buAutoNum type="arabicPeriod"/>
            </a:pPr>
            <a:r>
              <a:rPr lang="de-DE" dirty="0"/>
              <a:t>Variable Kosten</a:t>
            </a:r>
          </a:p>
          <a:p>
            <a:pPr marL="514350" indent="-514350">
              <a:buAutoNum type="arabicPeriod"/>
            </a:pPr>
            <a:r>
              <a:rPr lang="de-DE" dirty="0"/>
              <a:t>Deckungsbeitrag</a:t>
            </a:r>
          </a:p>
          <a:p>
            <a:pPr marL="514350" indent="-514350">
              <a:buAutoNum type="arabicPeriod"/>
            </a:pPr>
            <a:r>
              <a:rPr lang="de-DE" dirty="0"/>
              <a:t>Faktoransprüche</a:t>
            </a:r>
          </a:p>
          <a:p>
            <a:pPr marL="514350" indent="-514350">
              <a:buAutoNum type="arabicPeriod"/>
            </a:pPr>
            <a:r>
              <a:rPr lang="de-DE" dirty="0"/>
              <a:t>Faktorverwertung</a:t>
            </a:r>
          </a:p>
          <a:p>
            <a:pPr marL="514350" indent="-514350">
              <a:buAutoNum type="arabicPeriod"/>
            </a:pPr>
            <a:r>
              <a:rPr lang="de-DE" dirty="0"/>
              <a:t>Beispiele / Aufgaben</a:t>
            </a:r>
          </a:p>
        </p:txBody>
      </p:sp>
    </p:spTree>
    <p:extLst>
      <p:ext uri="{BB962C8B-B14F-4D97-AF65-F5344CB8AC3E}">
        <p14:creationId xmlns:p14="http://schemas.microsoft.com/office/powerpoint/2010/main" val="209821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Produktionsverfahren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Das „Produktionsverfahren“ beschreibt die Produktion einer kleinsten Einheit, z.B.</a:t>
            </a:r>
          </a:p>
          <a:p>
            <a:pPr lvl="0"/>
            <a:r>
              <a:rPr lang="de-DE" i="1" dirty="0">
                <a:solidFill>
                  <a:srgbClr val="0070C0"/>
                </a:solidFill>
              </a:rPr>
              <a:t>1 Hektar einer bestimmten Fruchtart</a:t>
            </a:r>
          </a:p>
          <a:p>
            <a:pPr lvl="0"/>
            <a:r>
              <a:rPr lang="de-DE" i="1" dirty="0">
                <a:solidFill>
                  <a:srgbClr val="0070C0"/>
                </a:solidFill>
              </a:rPr>
              <a:t>1 Milchkuh</a:t>
            </a:r>
          </a:p>
          <a:p>
            <a:pPr lvl="0"/>
            <a:r>
              <a:rPr lang="de-DE" i="1" dirty="0">
                <a:solidFill>
                  <a:srgbClr val="0070C0"/>
                </a:solidFill>
              </a:rPr>
              <a:t>1 erzeugtes Mastschwein</a:t>
            </a:r>
          </a:p>
          <a:p>
            <a:pPr lvl="0"/>
            <a:r>
              <a:rPr lang="de-DE" i="1" dirty="0">
                <a:solidFill>
                  <a:srgbClr val="0070C0"/>
                </a:solidFill>
              </a:rPr>
              <a:t>1 erzeugter Mastbulle</a:t>
            </a:r>
          </a:p>
          <a:p>
            <a:r>
              <a:rPr lang="de-DE" i="1" dirty="0">
                <a:solidFill>
                  <a:srgbClr val="0070C0"/>
                </a:solidFill>
              </a:rPr>
              <a:t>1 gehaltene Zuchtsau</a:t>
            </a:r>
          </a:p>
        </p:txBody>
      </p:sp>
    </p:spTree>
    <p:extLst>
      <p:ext uri="{BB962C8B-B14F-4D97-AF65-F5344CB8AC3E}">
        <p14:creationId xmlns:p14="http://schemas.microsoft.com/office/powerpoint/2010/main" val="369467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Produktionsverfahren - Übung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Der Landwirt Beispielsbauer wird nach seiner Meisterprüfung zum Ausbildungsbetrieb. </a:t>
            </a:r>
            <a:br>
              <a:rPr lang="de-DE" dirty="0"/>
            </a:br>
            <a:r>
              <a:rPr lang="de-DE" dirty="0"/>
              <a:t>Er will deshalb eine Beschreibung seines Unternehmens anfertigen. Zusätzlich zur </a:t>
            </a:r>
            <a:r>
              <a:rPr lang="de-DE" b="1" dirty="0"/>
              <a:t>Landwirtschaft</a:t>
            </a:r>
            <a:r>
              <a:rPr lang="de-DE" dirty="0"/>
              <a:t> (Milcherzeugung mit Futterbau, Marktfruchtbau) führt er </a:t>
            </a:r>
            <a:r>
              <a:rPr lang="de-DE" b="1" dirty="0"/>
              <a:t>gewerbliche Kommunalarbeiten</a:t>
            </a:r>
            <a:r>
              <a:rPr lang="de-DE" dirty="0"/>
              <a:t> durch und ist Betreiber einer </a:t>
            </a:r>
            <a:r>
              <a:rPr lang="de-DE" b="1" dirty="0"/>
              <a:t>Photovoltaikanlage auf den Betriebsgebäuden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Skizzieren Sie die Struktur des Unternehmens bis zum landwirtschaftlichen Produktionsverfahren.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349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Produktionsverfahren – Übung </a:t>
            </a:r>
          </a:p>
        </p:txBody>
      </p:sp>
      <p:pic>
        <p:nvPicPr>
          <p:cNvPr id="25" name="Inhaltsplatzhalter 24">
            <a:extLst>
              <a:ext uri="{FF2B5EF4-FFF2-40B4-BE49-F238E27FC236}">
                <a16:creationId xmlns:a16="http://schemas.microsoft.com/office/drawing/2014/main" id="{A1EC1B22-553D-D1DE-5925-575EBEB3C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366" y="1371600"/>
            <a:ext cx="8347329" cy="439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68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Produktionsverfahren – Übung </a:t>
            </a:r>
          </a:p>
        </p:txBody>
      </p:sp>
      <p:pic>
        <p:nvPicPr>
          <p:cNvPr id="25" name="Inhaltsplatzhalter 24">
            <a:extLst>
              <a:ext uri="{FF2B5EF4-FFF2-40B4-BE49-F238E27FC236}">
                <a16:creationId xmlns:a16="http://schemas.microsoft.com/office/drawing/2014/main" id="{A1EC1B22-553D-D1DE-5925-575EBEB3C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366" y="1371600"/>
            <a:ext cx="8347329" cy="43982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791AB8C-8A3B-0D97-8EBD-9D6240D71FCA}"/>
              </a:ext>
            </a:extLst>
          </p:cNvPr>
          <p:cNvSpPr txBox="1"/>
          <p:nvPr/>
        </p:nvSpPr>
        <p:spPr>
          <a:xfrm>
            <a:off x="908305" y="2642616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00B0F0"/>
                </a:solidFill>
                <a:latin typeface="+mj-lt"/>
              </a:rPr>
              <a:t>Gewerbe Kommunalarbeiten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1187985-6823-A3BE-F1EB-1DFF955C44EB}"/>
              </a:ext>
            </a:extLst>
          </p:cNvPr>
          <p:cNvSpPr txBox="1"/>
          <p:nvPr/>
        </p:nvSpPr>
        <p:spPr>
          <a:xfrm>
            <a:off x="3553014" y="2642615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00B0F0"/>
                </a:solidFill>
                <a:latin typeface="+mj-lt"/>
              </a:rPr>
              <a:t>Landwirtschaft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7CE1D0-81EC-51E8-698A-F8E83FFF1932}"/>
              </a:ext>
            </a:extLst>
          </p:cNvPr>
          <p:cNvSpPr txBox="1"/>
          <p:nvPr/>
        </p:nvSpPr>
        <p:spPr>
          <a:xfrm>
            <a:off x="5992369" y="3933064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00B0F0"/>
                </a:solidFill>
                <a:latin typeface="+mj-lt"/>
              </a:rPr>
              <a:t>Rinderhaltung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48464D-A6E3-CB11-773E-958399D0467F}"/>
              </a:ext>
            </a:extLst>
          </p:cNvPr>
          <p:cNvSpPr txBox="1"/>
          <p:nvPr/>
        </p:nvSpPr>
        <p:spPr>
          <a:xfrm>
            <a:off x="6095046" y="2633888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00B0F0"/>
                </a:solidFill>
                <a:latin typeface="+mj-lt"/>
              </a:rPr>
              <a:t>Photovoltaik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03A317C-1111-D4AF-BF5D-BB2B52D25875}"/>
              </a:ext>
            </a:extLst>
          </p:cNvPr>
          <p:cNvSpPr txBox="1"/>
          <p:nvPr/>
        </p:nvSpPr>
        <p:spPr>
          <a:xfrm>
            <a:off x="3450337" y="3916606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00B0F0"/>
                </a:solidFill>
                <a:latin typeface="+mj-lt"/>
              </a:rPr>
              <a:t>Marktfruchtbau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ED0D935-66F0-EE89-F05A-4E00E831A223}"/>
              </a:ext>
            </a:extLst>
          </p:cNvPr>
          <p:cNvSpPr txBox="1"/>
          <p:nvPr/>
        </p:nvSpPr>
        <p:spPr>
          <a:xfrm>
            <a:off x="650366" y="3913632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00B0F0"/>
                </a:solidFill>
                <a:latin typeface="+mj-lt"/>
              </a:rPr>
              <a:t>Futterbau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F2331C8-1E6E-D7AB-AED7-7925D220DDD1}"/>
              </a:ext>
            </a:extLst>
          </p:cNvPr>
          <p:cNvSpPr txBox="1"/>
          <p:nvPr/>
        </p:nvSpPr>
        <p:spPr>
          <a:xfrm>
            <a:off x="872392" y="5190596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00B0F0"/>
                </a:solidFill>
                <a:latin typeface="+mj-lt"/>
              </a:rPr>
              <a:t>Winterweizen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0149B3D-4C63-6292-5743-D720D08AD993}"/>
              </a:ext>
            </a:extLst>
          </p:cNvPr>
          <p:cNvSpPr txBox="1"/>
          <p:nvPr/>
        </p:nvSpPr>
        <p:spPr>
          <a:xfrm>
            <a:off x="3553014" y="5190596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00B0F0"/>
                </a:solidFill>
                <a:latin typeface="+mj-lt"/>
              </a:rPr>
              <a:t>Raps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64C2112-0E73-AE70-D208-DD7EFFE431E6}"/>
              </a:ext>
            </a:extLst>
          </p:cNvPr>
          <p:cNvSpPr txBox="1"/>
          <p:nvPr/>
        </p:nvSpPr>
        <p:spPr>
          <a:xfrm>
            <a:off x="6095046" y="5214419"/>
            <a:ext cx="2542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00B0F0"/>
                </a:solidFill>
                <a:latin typeface="+mj-lt"/>
              </a:rPr>
              <a:t>Zuckerrüben</a:t>
            </a:r>
          </a:p>
        </p:txBody>
      </p:sp>
    </p:spTree>
    <p:extLst>
      <p:ext uri="{BB962C8B-B14F-4D97-AF65-F5344CB8AC3E}">
        <p14:creationId xmlns:p14="http://schemas.microsoft.com/office/powerpoint/2010/main" val="145793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Kenndaten eines Produktionsverfahrens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	Leistungen</a:t>
            </a:r>
          </a:p>
          <a:p>
            <a:pPr marL="514350" indent="-514350">
              <a:buAutoNum type="arabicPeriod"/>
            </a:pPr>
            <a:endParaRPr lang="de-DE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360885"/>
              </p:ext>
            </p:extLst>
          </p:nvPr>
        </p:nvGraphicFramePr>
        <p:xfrm>
          <a:off x="372861" y="1740022"/>
          <a:ext cx="9046346" cy="422186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2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Produktions-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verfahren</a:t>
                      </a:r>
                      <a:endParaRPr lang="de-DE" sz="14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Hauptleistungen</a:t>
                      </a:r>
                      <a:endParaRPr lang="de-DE" sz="14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Nebenleistungen</a:t>
                      </a:r>
                      <a:endParaRPr lang="de-DE" sz="14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3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 </a:t>
                      </a: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marktfähig</a:t>
                      </a:r>
                      <a:endParaRPr lang="de-DE" sz="12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nicht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marktfähig</a:t>
                      </a:r>
                      <a:endParaRPr lang="de-DE" sz="12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marktfähig</a:t>
                      </a:r>
                      <a:endParaRPr lang="de-DE" sz="12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nicht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marktfähig</a:t>
                      </a:r>
                      <a:endParaRPr lang="de-DE" sz="12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76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1" dirty="0">
                          <a:effectLst/>
                        </a:rPr>
                        <a:t>Milchkuh</a:t>
                      </a:r>
                      <a:endParaRPr lang="de-DE" sz="16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2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1" dirty="0">
                          <a:effectLst/>
                        </a:rPr>
                        <a:t>Schweinemast</a:t>
                      </a:r>
                      <a:endParaRPr lang="de-DE" sz="16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6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1" dirty="0">
                          <a:effectLst/>
                        </a:rPr>
                        <a:t>Winterweizen</a:t>
                      </a:r>
                      <a:endParaRPr lang="de-DE" sz="16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6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1" dirty="0">
                          <a:effectLst/>
                        </a:rPr>
                        <a:t>Silomais</a:t>
                      </a:r>
                      <a:endParaRPr lang="de-DE" sz="16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3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81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6D88-ABF8-2DDA-BC2F-6438194E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5C988-7D5F-11D9-E370-C9DF7D0B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Kenndaten eines Produktionsverfahrens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166E09-C5EE-31C9-DBB8-4F87F377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	Leistungen</a:t>
            </a:r>
          </a:p>
          <a:p>
            <a:pPr marL="514350" indent="-514350">
              <a:buAutoNum type="arabicPeriod"/>
            </a:pP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08E898D-FA7C-53EA-3280-D1685718F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71363"/>
              </p:ext>
            </p:extLst>
          </p:nvPr>
        </p:nvGraphicFramePr>
        <p:xfrm>
          <a:off x="372861" y="1740022"/>
          <a:ext cx="9046346" cy="432751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2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Produktions-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verfahren</a:t>
                      </a:r>
                      <a:endParaRPr lang="de-DE" sz="14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Hauptleistungen</a:t>
                      </a:r>
                      <a:endParaRPr lang="de-DE" sz="14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Nebenleistungen</a:t>
                      </a:r>
                      <a:endParaRPr lang="de-DE" sz="14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3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 </a:t>
                      </a: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marktfähig</a:t>
                      </a:r>
                      <a:endParaRPr lang="de-DE" sz="12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nicht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marktfähig</a:t>
                      </a:r>
                      <a:endParaRPr lang="de-DE" sz="12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marktfähig</a:t>
                      </a:r>
                      <a:endParaRPr lang="de-DE" sz="12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nicht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</a:rPr>
                        <a:t>marktfähig</a:t>
                      </a:r>
                      <a:endParaRPr lang="de-DE" sz="12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76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1" dirty="0">
                          <a:effectLst/>
                        </a:rPr>
                        <a:t>Milchkuh</a:t>
                      </a:r>
                      <a:endParaRPr lang="de-DE" sz="16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Milch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Antibiotikamilch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Altkuh</a:t>
                      </a: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Kälber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(Wirtschaftsdünger)</a:t>
                      </a: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2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1" dirty="0">
                          <a:effectLst/>
                        </a:rPr>
                        <a:t>Schweinemast</a:t>
                      </a:r>
                      <a:endParaRPr lang="de-DE" sz="16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Fleisch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Spanferkel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(Wirtschaftsdünger)</a:t>
                      </a: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6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1" dirty="0">
                          <a:effectLst/>
                        </a:rPr>
                        <a:t>Winterweizen</a:t>
                      </a:r>
                      <a:endParaRPr lang="de-DE" sz="16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Korn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Abputz</a:t>
                      </a: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Stroh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6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1" dirty="0">
                          <a:effectLst/>
                        </a:rPr>
                        <a:t>Silomais</a:t>
                      </a:r>
                      <a:endParaRPr lang="de-DE" sz="1600" b="1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Energie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MJ NEL, MJ ME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e-DE" sz="1600" b="0" i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</a:t>
                      </a: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600" b="0" i="1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3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de-DE" sz="11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31152" marR="31152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56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Produktionsverfahren	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Zuteilbare variable Kosten </a:t>
            </a:r>
            <a:endParaRPr lang="de-DE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Variable Kosten – ja oder nein? </a:t>
            </a:r>
          </a:p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• Produktionsverfahren wird aufgegeben: </a:t>
            </a:r>
          </a:p>
          <a:p>
            <a:pPr marL="379413" lvl="1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o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wenn die Kosten wegfallen =&gt; </a:t>
            </a:r>
            <a:r>
              <a:rPr lang="de-DE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variable Kosten </a:t>
            </a:r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o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Kosten fallen nicht weg =&gt; </a:t>
            </a:r>
            <a:r>
              <a:rPr lang="de-DE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Festkosten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(z.B. Abschreibungen, 			    Versicherung, Unterhalt, usw.) </a:t>
            </a: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• Produktionsverfahren wird ausgedehnt/eingeschränkt: </a:t>
            </a:r>
          </a:p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o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wenn sich die Kosten proportional (im gleichen Verhältnis) ändern =&gt; 		    </a:t>
            </a:r>
            <a:r>
              <a:rPr lang="de-DE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variable Kosten </a:t>
            </a:r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		o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Kosten ändern sich </a:t>
            </a:r>
            <a:r>
              <a:rPr lang="de-DE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nicht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proportional =&gt; </a:t>
            </a:r>
            <a:r>
              <a:rPr lang="de-DE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Festkosten </a:t>
            </a:r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7374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Kenndaten eines Produktionsverfahrens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dirty="0"/>
              <a:t>Zuteilbare variable Kosten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492564"/>
              </p:ext>
            </p:extLst>
          </p:nvPr>
        </p:nvGraphicFramePr>
        <p:xfrm>
          <a:off x="421105" y="1852860"/>
          <a:ext cx="8927432" cy="42715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609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2400" b="1" dirty="0">
                          <a:effectLst/>
                        </a:rPr>
                        <a:t>Bodennutzung</a:t>
                      </a:r>
                      <a:endParaRPr lang="de-DE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2400" b="1" dirty="0">
                          <a:effectLst/>
                        </a:rPr>
                        <a:t> </a:t>
                      </a:r>
                      <a:endParaRPr lang="de-DE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2400" b="1" dirty="0">
                          <a:effectLst/>
                        </a:rPr>
                        <a:t>Viehhaltung</a:t>
                      </a:r>
                      <a:endParaRPr lang="de-DE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3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3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3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3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738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Kenndaten eines Produktionsverfahrens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dirty="0"/>
              <a:t>Zuteilbare variable Kosten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275715"/>
              </p:ext>
            </p:extLst>
          </p:nvPr>
        </p:nvGraphicFramePr>
        <p:xfrm>
          <a:off x="421105" y="1852860"/>
          <a:ext cx="8927432" cy="42715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609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2400" b="1" dirty="0">
                          <a:effectLst/>
                        </a:rPr>
                        <a:t>Bodennutzung</a:t>
                      </a:r>
                      <a:endParaRPr lang="de-DE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2400" b="1" dirty="0">
                          <a:effectLst/>
                        </a:rPr>
                        <a:t> </a:t>
                      </a:r>
                      <a:endParaRPr lang="de-DE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2400" b="1" dirty="0">
                          <a:effectLst/>
                        </a:rPr>
                        <a:t>Viehhaltung</a:t>
                      </a:r>
                      <a:endParaRPr lang="de-DE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2000" i="1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</a:rPr>
                        <a:t>Saatgut</a:t>
                      </a: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Bestandsergänzung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33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Dünger</a:t>
                      </a: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Kraft- und Mineralfutter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Spritzmittel</a:t>
                      </a: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Tierarztkosten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33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Variable Maschinenkosten</a:t>
                      </a: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Strom, Wasser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33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Lohnunternehmer, MR</a:t>
                      </a: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Variable Maschinenkosten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33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Saison-AK</a:t>
                      </a: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Besamung, Impfungen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Hagelversicherung</a:t>
                      </a: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Tierseuchenkasse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ea typeface="Times New Roman"/>
                          <a:cs typeface="+mn-cs"/>
                        </a:rPr>
                        <a:t>Trocknungskosten</a:t>
                      </a:r>
                    </a:p>
                  </a:txBody>
                  <a:tcPr marL="44450" marR="4445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600" i="1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de-DE" sz="1600" i="1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i="1" kern="1200" dirty="0">
                          <a:solidFill>
                            <a:srgbClr val="0070C0"/>
                          </a:solidFill>
                          <a:effectLst/>
                          <a:latin typeface="+mj-lt"/>
                          <a:cs typeface="+mn-cs"/>
                        </a:rPr>
                        <a:t> </a:t>
                      </a:r>
                      <a:endParaRPr lang="de-DE" sz="2000" i="1" kern="1200" dirty="0">
                        <a:solidFill>
                          <a:srgbClr val="0070C0"/>
                        </a:solidFill>
                        <a:effectLst/>
                        <a:latin typeface="+mj-lt"/>
                        <a:ea typeface="Times New Roman"/>
                        <a:cs typeface="+mn-cs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084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Deckungsbeitrag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Definition:</a:t>
            </a:r>
          </a:p>
          <a:p>
            <a:pPr marL="0" indent="0">
              <a:buNone/>
            </a:pPr>
            <a:endParaRPr lang="de-DE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2000" dirty="0"/>
              <a:t>Der DB ist der Beitrag der einzelnen Produktionsverfahren zur Deckung der Festkosten und für den Gewinn des gesamten Betriebes.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2000" dirty="0"/>
              <a:t>Leistungs-Kosten-Rechnung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2000" dirty="0"/>
              <a:t>Achtung: Die DB-Rechnung ist nur eine „Teilkostenrechnung“! </a:t>
            </a:r>
          </a:p>
          <a:p>
            <a:pPr marL="379413" lvl="1" indent="0">
              <a:buNone/>
            </a:pPr>
            <a:r>
              <a:rPr lang="de-DE" sz="2000" dirty="0"/>
              <a:t>    Im DB sind die Festkosten nicht berücksichtigt.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373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Deckungsbeitrag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Berechnung: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</p:txBody>
      </p:sp>
      <p:sp>
        <p:nvSpPr>
          <p:cNvPr id="5" name="Minus 4"/>
          <p:cNvSpPr/>
          <p:nvPr/>
        </p:nvSpPr>
        <p:spPr bwMode="auto">
          <a:xfrm>
            <a:off x="4111342" y="2686322"/>
            <a:ext cx="748062" cy="402562"/>
          </a:xfrm>
          <a:prstGeom prst="mathMinus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2370289" y="1860039"/>
            <a:ext cx="453590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32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4439653" y="3645569"/>
            <a:ext cx="45720" cy="4571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2370289" y="3277184"/>
            <a:ext cx="453590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32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9" name="Gleich 8"/>
          <p:cNvSpPr/>
          <p:nvPr/>
        </p:nvSpPr>
        <p:spPr bwMode="auto">
          <a:xfrm>
            <a:off x="4111342" y="4231536"/>
            <a:ext cx="868197" cy="557439"/>
          </a:xfrm>
          <a:prstGeom prst="mathEqual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370289" y="5150100"/>
            <a:ext cx="453590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32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0351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Deckungsbeitrag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Berechnung:</a:t>
            </a:r>
          </a:p>
          <a:p>
            <a:pPr marL="514350" indent="-514350">
              <a:buAutoNum type="arabicPeriod"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</p:txBody>
      </p:sp>
      <p:sp>
        <p:nvSpPr>
          <p:cNvPr id="5" name="Minus 4"/>
          <p:cNvSpPr/>
          <p:nvPr/>
        </p:nvSpPr>
        <p:spPr bwMode="auto">
          <a:xfrm>
            <a:off x="3860514" y="2673386"/>
            <a:ext cx="1383630" cy="402562"/>
          </a:xfrm>
          <a:prstGeom prst="mathMinus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2370289" y="1860039"/>
            <a:ext cx="453590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0070C0"/>
                </a:solidFill>
                <a:latin typeface="+mn-lt"/>
              </a:rPr>
              <a:t>Marktleistung</a:t>
            </a:r>
          </a:p>
        </p:txBody>
      </p:sp>
      <p:sp>
        <p:nvSpPr>
          <p:cNvPr id="7" name="Rechteck 6"/>
          <p:cNvSpPr/>
          <p:nvPr/>
        </p:nvSpPr>
        <p:spPr bwMode="auto">
          <a:xfrm>
            <a:off x="4439653" y="3645569"/>
            <a:ext cx="45720" cy="4571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2370289" y="3277184"/>
            <a:ext cx="453590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0070C0"/>
                </a:solidFill>
                <a:latin typeface="+mn-lt"/>
              </a:rPr>
              <a:t>Variable Kosten</a:t>
            </a:r>
          </a:p>
        </p:txBody>
      </p:sp>
      <p:sp>
        <p:nvSpPr>
          <p:cNvPr id="9" name="Gleich 8"/>
          <p:cNvSpPr/>
          <p:nvPr/>
        </p:nvSpPr>
        <p:spPr bwMode="auto">
          <a:xfrm>
            <a:off x="3860514" y="4227310"/>
            <a:ext cx="1616259" cy="557439"/>
          </a:xfrm>
          <a:prstGeom prst="mathEqual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370289" y="5150100"/>
            <a:ext cx="453590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0070C0"/>
                </a:solidFill>
                <a:latin typeface="+mn-lt"/>
              </a:rPr>
              <a:t>Deckungsbeitrag</a:t>
            </a:r>
          </a:p>
        </p:txBody>
      </p:sp>
    </p:spTree>
    <p:extLst>
      <p:ext uri="{BB962C8B-B14F-4D97-AF65-F5344CB8AC3E}">
        <p14:creationId xmlns:p14="http://schemas.microsoft.com/office/powerpoint/2010/main" val="757281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9B14B-AA52-3969-5EC3-3D9D12E4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Deckungsbeitrag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2C09BA-8118-8426-4796-21142D7E1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Warum wird der Deckungsbeitrag berechnet? </a:t>
            </a:r>
          </a:p>
          <a:p>
            <a:pPr marL="0" indent="0">
              <a:buNone/>
            </a:pPr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Vergleich </a:t>
            </a:r>
            <a:r>
              <a:rPr lang="de-DE" sz="2000" b="0" i="0" u="none" strike="noStrike" baseline="0" dirty="0">
                <a:solidFill>
                  <a:srgbClr val="000000"/>
                </a:solidFill>
              </a:rPr>
              <a:t>verschiedener</a:t>
            </a:r>
            <a:r>
              <a:rPr lang="de-DE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Produktionsverfahren im Betrieb </a:t>
            </a:r>
          </a:p>
          <a:p>
            <a:pPr marL="0" indent="0">
              <a:buNone/>
            </a:pPr>
            <a:r>
              <a:rPr 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	=&gt; </a:t>
            </a:r>
            <a:r>
              <a:rPr lang="de-DE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Horizontaler Vergleich</a:t>
            </a:r>
            <a:r>
              <a:rPr 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 (= mit anderen Betrieben) und </a:t>
            </a:r>
          </a:p>
          <a:p>
            <a:pPr marL="0" indent="0">
              <a:buNone/>
            </a:pPr>
            <a:r>
              <a:rPr lang="de-DE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de-DE" sz="2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=&gt;</a:t>
            </a:r>
            <a:r>
              <a:rPr lang="de-DE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sz="2000" b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de-DE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ertikaler Vergleich </a:t>
            </a:r>
            <a:r>
              <a:rPr lang="de-DE" sz="2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(=</a:t>
            </a:r>
            <a:r>
              <a:rPr lang="de-DE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selber Betrieb, andere Zeiten)</a:t>
            </a:r>
          </a:p>
          <a:p>
            <a:pPr marL="0" indent="0">
              <a:buNone/>
            </a:pPr>
            <a:r>
              <a:rPr lang="de-DE" sz="2000" dirty="0">
                <a:solidFill>
                  <a:srgbClr val="000000"/>
                </a:solidFill>
                <a:latin typeface="Arial" panose="020B0604020202020204" pitchFamily="34" charset="0"/>
              </a:rPr>
              <a:t>	=&gt; </a:t>
            </a:r>
            <a:r>
              <a:rPr lang="de-DE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Beurteilung der Wirtschaftlichkeit</a:t>
            </a:r>
          </a:p>
          <a:p>
            <a:pPr marL="0" indent="0">
              <a:buNone/>
            </a:pPr>
            <a:endParaRPr lang="de-DE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Zukunftsplanung für den Betrieb (=Planungsrechnung)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3966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F5183F-3979-001E-6788-A410A32E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Aufbau eines Deckungsbeitrages</a:t>
            </a:r>
            <a:endParaRPr lang="de-DE" sz="4800" dirty="0"/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66C725CC-1135-BF8B-30C0-6A592FE70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242571"/>
              </p:ext>
            </p:extLst>
          </p:nvPr>
        </p:nvGraphicFramePr>
        <p:xfrm>
          <a:off x="175230" y="1060673"/>
          <a:ext cx="9555540" cy="5102568"/>
        </p:xfrm>
        <a:graphic>
          <a:graphicData uri="http://schemas.openxmlformats.org/drawingml/2006/table">
            <a:tbl>
              <a:tblPr firstRow="1" firstCol="1" bandRow="1"/>
              <a:tblGrid>
                <a:gridCol w="2469318">
                  <a:extLst>
                    <a:ext uri="{9D8B030D-6E8A-4147-A177-3AD203B41FA5}">
                      <a16:colId xmlns:a16="http://schemas.microsoft.com/office/drawing/2014/main" val="1249665876"/>
                    </a:ext>
                  </a:extLst>
                </a:gridCol>
                <a:gridCol w="2469318">
                  <a:extLst>
                    <a:ext uri="{9D8B030D-6E8A-4147-A177-3AD203B41FA5}">
                      <a16:colId xmlns:a16="http://schemas.microsoft.com/office/drawing/2014/main" val="3100383657"/>
                    </a:ext>
                  </a:extLst>
                </a:gridCol>
                <a:gridCol w="2308452">
                  <a:extLst>
                    <a:ext uri="{9D8B030D-6E8A-4147-A177-3AD203B41FA5}">
                      <a16:colId xmlns:a16="http://schemas.microsoft.com/office/drawing/2014/main" val="2037173035"/>
                    </a:ext>
                  </a:extLst>
                </a:gridCol>
                <a:gridCol w="2308452">
                  <a:extLst>
                    <a:ext uri="{9D8B030D-6E8A-4147-A177-3AD203B41FA5}">
                      <a16:colId xmlns:a16="http://schemas.microsoft.com/office/drawing/2014/main" val="1331601087"/>
                    </a:ext>
                  </a:extLst>
                </a:gridCol>
              </a:tblGrid>
              <a:tr h="612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Tierische Erzeugung</a:t>
                      </a:r>
                      <a:endParaRPr lang="de-DE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Pflanzliche Erzeugung</a:t>
                      </a: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41866"/>
                  </a:ext>
                </a:extLst>
              </a:tr>
              <a:tr h="2401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Rinderhaltung</a:t>
                      </a:r>
                      <a:endParaRPr lang="de-DE" sz="105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Marktfruchtbau</a:t>
                      </a:r>
                      <a:endParaRPr lang="de-DE" sz="105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Futterbau</a:t>
                      </a:r>
                      <a:endParaRPr lang="de-DE" sz="105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272322"/>
                  </a:ext>
                </a:extLst>
              </a:tr>
              <a:tr h="2401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i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Milchkuh ( 1 Kuh)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i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Winterweizen (1 ha)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i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Silomais (1 ha)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138900"/>
                  </a:ext>
                </a:extLst>
              </a:tr>
              <a:tr h="985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2000" b="1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Markt-</a:t>
                      </a:r>
                      <a:endParaRPr lang="de-DE" sz="12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2000" b="1" dirty="0" err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leistung</a:t>
                      </a:r>
                      <a:endParaRPr lang="de-DE" sz="12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Milchverkauf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Kälberverkauf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Altkuhverkauf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Getreideverkauf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Strohverkauf (evtl.)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i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(kein Markterlös)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607"/>
                  </a:ext>
                </a:extLst>
              </a:tr>
              <a:tr h="240195">
                <a:tc rowSpan="1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2000" b="1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2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2000" b="1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-</a:t>
                      </a:r>
                      <a:endParaRPr lang="de-DE" sz="12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2000" b="1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de-DE" sz="12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2000" b="1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Kosten</a:t>
                      </a:r>
                      <a:endParaRPr lang="de-DE" sz="12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Bestandsergänzung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Saatgut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Saatgut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57259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Kraftfutter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Düngung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Düngung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71711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Mineralfutter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Pflanzenschutz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Pflanzenschutz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412924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Viehsalz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variable Maschinenk.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variable Maschinenk.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981768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Milchaustauscher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MR/Lohnuntern.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MR/Lohnuntern.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53501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Tierarzt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Hagelversicherung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Hagelversicherung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988518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Deckgeld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Trocknung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Trocknung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264908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Strom, Wasser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Reinigung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Silounterhalt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175549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variable Maschinenk.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478841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Beiträge,Versicherung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525932"/>
                  </a:ext>
                </a:extLst>
              </a:tr>
              <a:tr h="24019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216312"/>
                  </a:ext>
                </a:extLst>
              </a:tr>
              <a:tr h="240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20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de-DE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Deckungsbeitrag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Deckungsbeitrag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DE" sz="15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Deckungsbeitrag</a:t>
                      </a:r>
                      <a:endParaRPr lang="de-DE" sz="10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720" marR="62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155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535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51F36-44F0-AF04-D96B-9B19C3F8F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3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Gesamtdeckungsbeitrag </a:t>
            </a:r>
            <a:endParaRPr lang="de-DE" sz="3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A6415C-F8E7-BD78-6077-A2B55FFAC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= Summe der Deckungsbeiträge aller Produktionsverfahren eines Betriebes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0875BCC-70E0-045B-7855-4B21F019B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16" y="1876391"/>
            <a:ext cx="7057352" cy="426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91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Marktleistungen Milchkuh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de-DE" sz="3200" dirty="0"/>
          </a:p>
          <a:p>
            <a:pPr lvl="1"/>
            <a:r>
              <a:rPr lang="de-DE" sz="3200" dirty="0"/>
              <a:t>Milcherlös</a:t>
            </a:r>
          </a:p>
          <a:p>
            <a:pPr lvl="1"/>
            <a:endParaRPr lang="de-DE" sz="3200" dirty="0"/>
          </a:p>
          <a:p>
            <a:pPr lvl="1"/>
            <a:r>
              <a:rPr lang="de-DE" sz="3200" dirty="0"/>
              <a:t>Altkuherlös</a:t>
            </a:r>
          </a:p>
          <a:p>
            <a:pPr lvl="1"/>
            <a:r>
              <a:rPr lang="de-DE" sz="3200" dirty="0"/>
              <a:t>Kälbererlös</a:t>
            </a:r>
          </a:p>
          <a:p>
            <a:pPr lvl="1"/>
            <a:r>
              <a:rPr lang="de-DE" sz="3200" dirty="0"/>
              <a:t>Wirtschaftsdünger</a:t>
            </a:r>
          </a:p>
        </p:txBody>
      </p:sp>
      <p:cxnSp>
        <p:nvCxnSpPr>
          <p:cNvPr id="7" name="Gerade Verbindung 6"/>
          <p:cNvCxnSpPr/>
          <p:nvPr/>
        </p:nvCxnSpPr>
        <p:spPr bwMode="auto">
          <a:xfrm>
            <a:off x="662524" y="2996952"/>
            <a:ext cx="3198355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225" y="1700809"/>
            <a:ext cx="2184243" cy="157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70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1442610" y="1535305"/>
            <a:ext cx="7020780" cy="1584176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Milcherlös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52399" y="1418673"/>
            <a:ext cx="9601201" cy="4960883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de-DE" sz="3200" b="1" dirty="0"/>
              <a:t>Milcherlös</a:t>
            </a:r>
          </a:p>
          <a:p>
            <a:pPr marL="0" indent="0" algn="ctr">
              <a:buNone/>
            </a:pPr>
            <a:r>
              <a:rPr lang="de-DE" sz="3200" b="1" dirty="0"/>
              <a:t>= ____________________________</a:t>
            </a:r>
          </a:p>
          <a:p>
            <a:pPr marL="0" indent="0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/>
              <a:t>Verkaufte Milch ≠ erzeugte Milch</a:t>
            </a:r>
          </a:p>
          <a:p>
            <a:pPr marL="0" indent="0" algn="ctr">
              <a:buNone/>
            </a:pPr>
            <a:r>
              <a:rPr lang="de-DE" dirty="0"/>
              <a:t> </a:t>
            </a:r>
            <a:r>
              <a:rPr lang="de-DE" b="1" dirty="0">
                <a:sym typeface="Wingdings" panose="05000000000000000000" pitchFamily="2" charset="2"/>
              </a:rPr>
              <a:t> </a:t>
            </a:r>
            <a:r>
              <a:rPr lang="de-DE" dirty="0"/>
              <a:t> abzüglich ____________________________________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1910662" y="4941168"/>
            <a:ext cx="6318702" cy="86409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Hilfsmittel: _________________________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656" y="58316"/>
            <a:ext cx="2305344" cy="141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02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1442610" y="1535305"/>
            <a:ext cx="7020780" cy="158417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Milcherlös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52399" y="1535305"/>
            <a:ext cx="9601201" cy="4960883"/>
          </a:xfrm>
        </p:spPr>
        <p:txBody>
          <a:bodyPr/>
          <a:lstStyle/>
          <a:p>
            <a:pPr marL="0" indent="0" algn="ctr">
              <a:buNone/>
            </a:pPr>
            <a:r>
              <a:rPr lang="de-DE" sz="3200" b="1" dirty="0"/>
              <a:t>Milcherlös</a:t>
            </a:r>
          </a:p>
          <a:p>
            <a:pPr marL="0" indent="0" algn="ctr">
              <a:buNone/>
            </a:pPr>
            <a:r>
              <a:rPr lang="de-DE" sz="3200" b="1" dirty="0"/>
              <a:t>= Milchpreis x verkaufte Milch</a:t>
            </a:r>
          </a:p>
          <a:p>
            <a:pPr marL="0" indent="0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/>
              <a:t>Verkaufte Milch ≠ erzeugte Milch</a:t>
            </a:r>
          </a:p>
          <a:p>
            <a:pPr marL="0" indent="0" algn="ctr">
              <a:buNone/>
            </a:pPr>
            <a:r>
              <a:rPr lang="de-DE" dirty="0"/>
              <a:t> </a:t>
            </a:r>
            <a:r>
              <a:rPr lang="de-DE" b="1" dirty="0">
                <a:sym typeface="Wingdings" panose="05000000000000000000" pitchFamily="2" charset="2"/>
              </a:rPr>
              <a:t></a:t>
            </a:r>
            <a:r>
              <a:rPr lang="de-DE" dirty="0"/>
              <a:t> abzüglich Tränkmilch, Zellmilch, Haushaltsmilch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1910662" y="4941168"/>
            <a:ext cx="6318702" cy="86409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Milchgeldabrechnung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656" y="0"/>
            <a:ext cx="2305344" cy="141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8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19940" y1="26641" x2="19940" y2="26641"/>
                        <a14:foregroundMark x1="14199" y1="9653" x2="14199" y2="9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424" y="162406"/>
            <a:ext cx="1560176" cy="1127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hteck 5"/>
          <p:cNvSpPr/>
          <p:nvPr/>
        </p:nvSpPr>
        <p:spPr bwMode="auto">
          <a:xfrm>
            <a:off x="1442610" y="1606326"/>
            <a:ext cx="7020780" cy="1584176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Altkuherlös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52399" y="1721743"/>
            <a:ext cx="9601201" cy="4960883"/>
          </a:xfrm>
        </p:spPr>
        <p:txBody>
          <a:bodyPr/>
          <a:lstStyle/>
          <a:p>
            <a:pPr marL="0" indent="0" algn="ctr">
              <a:buNone/>
            </a:pPr>
            <a:r>
              <a:rPr lang="de-DE" sz="3200" b="1" dirty="0"/>
              <a:t>Altkuherlös</a:t>
            </a:r>
          </a:p>
          <a:p>
            <a:pPr marL="0" indent="0" algn="ctr">
              <a:buNone/>
            </a:pPr>
            <a:r>
              <a:rPr lang="de-DE" sz="3200" b="1" dirty="0"/>
              <a:t>= _____________________________</a:t>
            </a:r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452761" y="4523446"/>
            <a:ext cx="8833282" cy="86409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Hilfsmittel: ______________________________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/>
              <a:t>_______________________________________</a:t>
            </a: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979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19940" y1="26641" x2="19940" y2="26641"/>
                        <a14:foregroundMark x1="14199" y1="9653" x2="14199" y2="9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424" y="125787"/>
            <a:ext cx="1560176" cy="1127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hteck 5"/>
          <p:cNvSpPr/>
          <p:nvPr/>
        </p:nvSpPr>
        <p:spPr bwMode="auto">
          <a:xfrm>
            <a:off x="1442610" y="1535305"/>
            <a:ext cx="7020780" cy="158417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Altkuherlös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52399" y="1645927"/>
            <a:ext cx="9601201" cy="4960883"/>
          </a:xfrm>
        </p:spPr>
        <p:txBody>
          <a:bodyPr/>
          <a:lstStyle/>
          <a:p>
            <a:pPr marL="0" indent="0" algn="ctr">
              <a:buNone/>
            </a:pPr>
            <a:r>
              <a:rPr lang="de-DE" sz="3200" b="1" dirty="0"/>
              <a:t>= Preis Altkuh x </a:t>
            </a:r>
          </a:p>
          <a:p>
            <a:pPr marL="0" indent="0" algn="ctr">
              <a:buNone/>
            </a:pPr>
            <a:r>
              <a:rPr lang="de-DE" sz="3200" b="1" dirty="0"/>
              <a:t>Abgangsquote</a:t>
            </a:r>
          </a:p>
          <a:p>
            <a:pPr marL="0" indent="0">
              <a:buNone/>
            </a:pPr>
            <a:endParaRPr lang="de-DE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de-DE" dirty="0"/>
              <a:t>Ausschlachtung in %, Schlachterlös pro kg</a:t>
            </a:r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1793649" y="4523446"/>
            <a:ext cx="6318702" cy="86409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Rechnung Viehhändler, Schlachtabrechnung, Herdenmanagement-Programm</a:t>
            </a:r>
          </a:p>
        </p:txBody>
      </p:sp>
    </p:spTree>
    <p:extLst>
      <p:ext uri="{BB962C8B-B14F-4D97-AF65-F5344CB8AC3E}">
        <p14:creationId xmlns:p14="http://schemas.microsoft.com/office/powerpoint/2010/main" val="2803261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8613D-BAE8-A574-5940-F0B76495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de-DE" dirty="0"/>
            </a:b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7606222D-8213-3DD6-9131-9B978FC8D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934660"/>
              </p:ext>
            </p:extLst>
          </p:nvPr>
        </p:nvGraphicFramePr>
        <p:xfrm>
          <a:off x="175420" y="1135063"/>
          <a:ext cx="8534948" cy="4960938"/>
        </p:xfrm>
        <a:graphic>
          <a:graphicData uri="http://schemas.openxmlformats.org/drawingml/2006/table">
            <a:tbl>
              <a:tblPr/>
              <a:tblGrid>
                <a:gridCol w="2438554">
                  <a:extLst>
                    <a:ext uri="{9D8B030D-6E8A-4147-A177-3AD203B41FA5}">
                      <a16:colId xmlns:a16="http://schemas.microsoft.com/office/drawing/2014/main" val="2762774434"/>
                    </a:ext>
                  </a:extLst>
                </a:gridCol>
                <a:gridCol w="1625705">
                  <a:extLst>
                    <a:ext uri="{9D8B030D-6E8A-4147-A177-3AD203B41FA5}">
                      <a16:colId xmlns:a16="http://schemas.microsoft.com/office/drawing/2014/main" val="207894101"/>
                    </a:ext>
                  </a:extLst>
                </a:gridCol>
                <a:gridCol w="1625705">
                  <a:extLst>
                    <a:ext uri="{9D8B030D-6E8A-4147-A177-3AD203B41FA5}">
                      <a16:colId xmlns:a16="http://schemas.microsoft.com/office/drawing/2014/main" val="641794027"/>
                    </a:ext>
                  </a:extLst>
                </a:gridCol>
                <a:gridCol w="1219279">
                  <a:extLst>
                    <a:ext uri="{9D8B030D-6E8A-4147-A177-3AD203B41FA5}">
                      <a16:colId xmlns:a16="http://schemas.microsoft.com/office/drawing/2014/main" val="2847641299"/>
                    </a:ext>
                  </a:extLst>
                </a:gridCol>
                <a:gridCol w="1625705">
                  <a:extLst>
                    <a:ext uri="{9D8B030D-6E8A-4147-A177-3AD203B41FA5}">
                      <a16:colId xmlns:a16="http://schemas.microsoft.com/office/drawing/2014/main" val="2014947623"/>
                    </a:ext>
                  </a:extLst>
                </a:gridCol>
              </a:tblGrid>
              <a:tr h="915011">
                <a:tc>
                  <a:txBody>
                    <a:bodyPr/>
                    <a:lstStyle/>
                    <a:p>
                      <a:pPr algn="ctr"/>
                      <a:r>
                        <a:rPr lang="de-DE" sz="900" b="1">
                          <a:effectLst/>
                        </a:rPr>
                        <a:t>Kategorie</a:t>
                      </a:r>
                      <a:endParaRPr lang="de-DE" sz="900" b="0">
                        <a:effectLst/>
                      </a:endParaRPr>
                    </a:p>
                  </a:txBody>
                  <a:tcPr marL="48723" marR="48723" marT="38978" marB="34106">
                    <a:lnL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>
                          <a:effectLst/>
                        </a:rPr>
                        <a:t>Handels-</a:t>
                      </a:r>
                      <a:br>
                        <a:rPr lang="de-DE" sz="900" b="1">
                          <a:effectLst/>
                        </a:rPr>
                      </a:br>
                      <a:r>
                        <a:rPr lang="de-DE" sz="900" b="1">
                          <a:effectLst/>
                        </a:rPr>
                        <a:t>klasse</a:t>
                      </a:r>
                      <a:endParaRPr lang="de-DE" sz="900" b="0">
                        <a:effectLst/>
                      </a:endParaRPr>
                    </a:p>
                  </a:txBody>
                  <a:tcPr marL="48723" marR="48723" marT="38978" marB="34106">
                    <a:lnL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>
                          <a:effectLst/>
                        </a:rPr>
                        <a:t>Preisspanne</a:t>
                      </a:r>
                      <a:br>
                        <a:rPr lang="de-DE" sz="900" b="1">
                          <a:effectLst/>
                        </a:rPr>
                      </a:br>
                      <a:r>
                        <a:rPr lang="de-DE" sz="900" b="1">
                          <a:effectLst/>
                        </a:rPr>
                        <a:t>von - bis</a:t>
                      </a:r>
                      <a:endParaRPr lang="de-DE" sz="900" b="0">
                        <a:effectLst/>
                      </a:endParaRPr>
                    </a:p>
                  </a:txBody>
                  <a:tcPr marL="48723" marR="48723" marT="38978" marB="34106">
                    <a:lnL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>
                          <a:effectLst/>
                        </a:rPr>
                        <a:t>Durchschn. Preis</a:t>
                      </a:r>
                      <a:endParaRPr lang="de-DE" sz="900" b="0">
                        <a:effectLst/>
                      </a:endParaRPr>
                    </a:p>
                  </a:txBody>
                  <a:tcPr marL="48723" marR="48723" marT="38978" marB="34106">
                    <a:lnL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b="1">
                          <a:effectLst/>
                        </a:rPr>
                        <a:t>Veränd. zur Vorwoche</a:t>
                      </a:r>
                      <a:endParaRPr lang="de-DE" sz="900" b="0">
                        <a:effectLst/>
                      </a:endParaRPr>
                    </a:p>
                  </a:txBody>
                  <a:tcPr marL="48723" marR="48723" marT="38978" marB="34106">
                    <a:lnL w="9525" cap="flat" cmpd="sng" algn="ctr">
                      <a:solidFill>
                        <a:srgbClr val="235A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335683"/>
                  </a:ext>
                </a:extLst>
              </a:tr>
              <a:tr h="348854">
                <a:tc rowSpan="3">
                  <a:txBody>
                    <a:bodyPr/>
                    <a:lstStyle/>
                    <a:p>
                      <a:pPr algn="ctr" fontAlgn="t"/>
                      <a:r>
                        <a:rPr lang="de-DE" sz="900" b="1">
                          <a:effectLst/>
                        </a:rPr>
                        <a:t>Jungbullenfleisch</a:t>
                      </a:r>
                      <a:endParaRPr lang="de-DE" sz="900">
                        <a:effectLst/>
                      </a:endParaRP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E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7,20 - 7,35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7,27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+0,07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087283"/>
                  </a:ext>
                </a:extLst>
              </a:tr>
              <a:tr h="34885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U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7,16 - 7,33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7,25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+0,08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89143"/>
                  </a:ext>
                </a:extLst>
              </a:tr>
              <a:tr h="34885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R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7,13 - 7,35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7,21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+0,06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81836"/>
                  </a:ext>
                </a:extLst>
              </a:tr>
              <a:tr h="348854">
                <a:tc rowSpan="3">
                  <a:txBody>
                    <a:bodyPr/>
                    <a:lstStyle/>
                    <a:p>
                      <a:pPr algn="ctr" fontAlgn="t"/>
                      <a:r>
                        <a:rPr lang="de-DE" sz="900" b="1">
                          <a:effectLst/>
                        </a:rPr>
                        <a:t>Bullenfleisch</a:t>
                      </a:r>
                      <a:endParaRPr lang="de-DE" sz="900">
                        <a:effectLst/>
                      </a:endParaRP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U 2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6,45 - 6,68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6,55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+0,08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931718"/>
                  </a:ext>
                </a:extLst>
              </a:tr>
              <a:tr h="34885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R 2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6,48 - 6,71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6,61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+0,14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887716"/>
                  </a:ext>
                </a:extLst>
              </a:tr>
              <a:tr h="208533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O 2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 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 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 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04331"/>
                  </a:ext>
                </a:extLst>
              </a:tr>
              <a:tr h="348854">
                <a:tc rowSpan="3">
                  <a:txBody>
                    <a:bodyPr/>
                    <a:lstStyle/>
                    <a:p>
                      <a:pPr algn="ctr" fontAlgn="t"/>
                      <a:r>
                        <a:rPr lang="de-DE" sz="900" b="1">
                          <a:effectLst/>
                        </a:rPr>
                        <a:t>Kuhfleisch</a:t>
                      </a:r>
                      <a:endParaRPr lang="de-DE" sz="900">
                        <a:effectLst/>
                      </a:endParaRP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U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6,96 - 7,06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7,02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+0,06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096856"/>
                  </a:ext>
                </a:extLst>
              </a:tr>
              <a:tr h="34885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R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6,70 - 6,85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6,78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+0,04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9834"/>
                  </a:ext>
                </a:extLst>
              </a:tr>
              <a:tr h="34885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O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6,47 - 6,61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6,54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+0,04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97601"/>
                  </a:ext>
                </a:extLst>
              </a:tr>
              <a:tr h="348854">
                <a:tc rowSpan="3">
                  <a:txBody>
                    <a:bodyPr/>
                    <a:lstStyle/>
                    <a:p>
                      <a:pPr algn="ctr" fontAlgn="t"/>
                      <a:r>
                        <a:rPr lang="de-DE" sz="900" b="1">
                          <a:effectLst/>
                        </a:rPr>
                        <a:t>Färsenfleisch</a:t>
                      </a:r>
                      <a:endParaRPr lang="de-DE" sz="900">
                        <a:effectLst/>
                      </a:endParaRP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U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7,14 - 7,21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7,17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+0,05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995118"/>
                  </a:ext>
                </a:extLst>
              </a:tr>
              <a:tr h="34885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R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7,07 - 7,17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7,11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+0,04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965322"/>
                  </a:ext>
                </a:extLst>
              </a:tr>
              <a:tr h="34885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O 3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6,33 - 6,57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>
                          <a:effectLst/>
                        </a:rPr>
                        <a:t>6,41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900" dirty="0">
                          <a:effectLst/>
                        </a:rPr>
                        <a:t>+0,05</a:t>
                      </a:r>
                    </a:p>
                  </a:txBody>
                  <a:tcPr marL="24361" marR="24361" marT="34106" marB="34106">
                    <a:lnL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205860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F2CC69A3-7880-685B-893F-3708BD64E828}"/>
              </a:ext>
            </a:extLst>
          </p:cNvPr>
          <p:cNvSpPr txBox="1"/>
          <p:nvPr/>
        </p:nvSpPr>
        <p:spPr>
          <a:xfrm>
            <a:off x="544398" y="140683"/>
            <a:ext cx="7289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i="0" dirty="0">
                <a:solidFill>
                  <a:srgbClr val="000000"/>
                </a:solidFill>
                <a:effectLst/>
                <a:latin typeface="Open Sans"/>
              </a:rPr>
              <a:t>38. Woche - 15.09.2025 bis 21.09.2025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5700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 Altkuherlös</a:t>
            </a:r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396963"/>
              </p:ext>
            </p:extLst>
          </p:nvPr>
        </p:nvGraphicFramePr>
        <p:xfrm>
          <a:off x="662524" y="1700805"/>
          <a:ext cx="8502946" cy="45001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590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Wert der Altkuh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Abgangsquote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Altkuherlös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5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670 kg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53</a:t>
                      </a:r>
                      <a:r>
                        <a:rPr lang="de-DE" sz="2800" b="1" baseline="0" dirty="0">
                          <a:effectLst/>
                        </a:rPr>
                        <a:t> % Ausschl.</a:t>
                      </a:r>
                      <a:r>
                        <a:rPr lang="de-DE" sz="2800" b="1" dirty="0">
                          <a:effectLst/>
                        </a:rPr>
                        <a:t> 7,00 € / kg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30 %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05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032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 Altkuherlös</a:t>
            </a:r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550683"/>
              </p:ext>
            </p:extLst>
          </p:nvPr>
        </p:nvGraphicFramePr>
        <p:xfrm>
          <a:off x="662524" y="1700805"/>
          <a:ext cx="8502946" cy="45001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590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Wert der Altkuh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Abgangsquote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Altkuherlös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5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670 kg * 0,53 * 7,00 €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30 %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dirty="0">
                          <a:effectLst/>
                        </a:rPr>
                        <a:t>2.486 € * 0,3</a:t>
                      </a:r>
                      <a:endParaRPr lang="de-D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05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dirty="0">
                          <a:effectLst/>
                        </a:rPr>
                        <a:t>= 2.486 €</a:t>
                      </a:r>
                      <a:endParaRPr lang="de-D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800" b="1" dirty="0">
                          <a:effectLst/>
                        </a:rPr>
                        <a:t>= 746 €</a:t>
                      </a:r>
                      <a:endParaRPr lang="de-DE" sz="2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Ellipse 7"/>
          <p:cNvSpPr/>
          <p:nvPr/>
        </p:nvSpPr>
        <p:spPr bwMode="auto">
          <a:xfrm>
            <a:off x="6279148" y="4598270"/>
            <a:ext cx="1781073" cy="77379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696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1052567" y="1535307"/>
            <a:ext cx="8112901" cy="146164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Kälbererlös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48013" y="1535307"/>
            <a:ext cx="7839871" cy="4592637"/>
          </a:xfrm>
        </p:spPr>
        <p:txBody>
          <a:bodyPr/>
          <a:lstStyle/>
          <a:p>
            <a:pPr marL="0" indent="0" algn="ctr">
              <a:buNone/>
            </a:pPr>
            <a:r>
              <a:rPr lang="de-DE" sz="3200" b="1" dirty="0"/>
              <a:t>Kälbererlös =</a:t>
            </a:r>
          </a:p>
          <a:p>
            <a:pPr marL="0" indent="0" algn="ctr">
              <a:buNone/>
            </a:pPr>
            <a:r>
              <a:rPr lang="de-DE" sz="2400" b="1" dirty="0"/>
              <a:t>__________________________________________________________________________________________</a:t>
            </a:r>
            <a:endParaRPr lang="de-DE" sz="2000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1908598" y="4869160"/>
            <a:ext cx="6318702" cy="86409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2400" dirty="0">
                <a:latin typeface="Times New Roman" charset="0"/>
              </a:rPr>
              <a:t>Hilfsmittel: _____________________________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_______________________________________</a:t>
            </a: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301" y="3356992"/>
            <a:ext cx="1258592" cy="133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47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1052567" y="1535307"/>
            <a:ext cx="8112901" cy="146164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Kälbererlös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052568" y="1535305"/>
            <a:ext cx="7839871" cy="4592637"/>
          </a:xfrm>
        </p:spPr>
        <p:txBody>
          <a:bodyPr/>
          <a:lstStyle/>
          <a:p>
            <a:pPr marL="0" indent="0" algn="ctr">
              <a:buNone/>
            </a:pPr>
            <a:r>
              <a:rPr lang="de-DE" sz="3200" b="1" dirty="0"/>
              <a:t>= Preis (50 % männlich &amp; 50 % weiblich) x Anzahl Kälber pro Jahr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Verkaufspreise männl. und weibl. Kälber</a:t>
            </a:r>
          </a:p>
        </p:txBody>
      </p:sp>
      <p:sp>
        <p:nvSpPr>
          <p:cNvPr id="7" name="Abgerundetes Rechteck 6"/>
          <p:cNvSpPr/>
          <p:nvPr/>
        </p:nvSpPr>
        <p:spPr bwMode="auto">
          <a:xfrm>
            <a:off x="1908598" y="4869160"/>
            <a:ext cx="6318702" cy="86409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2400" dirty="0">
                <a:latin typeface="Times New Roman" charset="0"/>
              </a:rPr>
              <a:t>Zwischen-Kalbezeit, Kälberverluste, Herden-Managementprogramm, Kälberpreise</a:t>
            </a: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301" y="3356992"/>
            <a:ext cx="1258592" cy="133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06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15675524-2B0A-346B-2351-46D67047B6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49826"/>
              </p:ext>
            </p:extLst>
          </p:nvPr>
        </p:nvGraphicFramePr>
        <p:xfrm>
          <a:off x="171455" y="1865884"/>
          <a:ext cx="9601200" cy="2229613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705774956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78924861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57323309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957695815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097522520"/>
                    </a:ext>
                  </a:extLst>
                </a:gridCol>
              </a:tblGrid>
              <a:tr h="50406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>
                          <a:solidFill>
                            <a:srgbClr val="FFFFFF"/>
                          </a:solidFill>
                          <a:effectLst/>
                        </a:rPr>
                        <a:t> 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>
                          <a:solidFill>
                            <a:srgbClr val="FFFFFF"/>
                          </a:solidFill>
                          <a:effectLst/>
                        </a:rPr>
                        <a:t>verkaufte Tiere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>
                          <a:solidFill>
                            <a:srgbClr val="FFFFFF"/>
                          </a:solidFill>
                          <a:effectLst/>
                        </a:rPr>
                        <a:t>Ø Gewicht in KG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>
                          <a:solidFill>
                            <a:srgbClr val="FFFFFF"/>
                          </a:solidFill>
                          <a:effectLst/>
                        </a:rPr>
                        <a:t>Ø Preis Netto in €/KG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>
                          <a:solidFill>
                            <a:srgbClr val="FFFFFF"/>
                          </a:solidFill>
                          <a:effectLst/>
                        </a:rPr>
                        <a:t>Ø Preis Brutto in €/KG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347599"/>
                  </a:ext>
                </a:extLst>
              </a:tr>
              <a:tr h="15884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Braunvieh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175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79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6,32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6,81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47712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Fleckvieh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119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84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10,71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11,55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60905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Schwarzbunt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91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68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6,02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6,49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2509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sonstige Rasse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8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85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6,33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6,83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779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BV x FV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30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79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7,51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8,10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35486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BV x WBB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179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85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10,18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dirty="0">
                          <a:effectLst/>
                        </a:rPr>
                        <a:t>10,97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3094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5C3AA2B-EBCE-5E63-939A-9E4D769FC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469408"/>
              </p:ext>
            </p:extLst>
          </p:nvPr>
        </p:nvGraphicFramePr>
        <p:xfrm>
          <a:off x="129384" y="4424585"/>
          <a:ext cx="9601200" cy="1944243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623113945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79646381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762039265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2299911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803976596"/>
                    </a:ext>
                  </a:extLst>
                </a:gridCol>
              </a:tblGrid>
              <a:tr h="50406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>
                          <a:solidFill>
                            <a:srgbClr val="FFFFFF"/>
                          </a:solidFill>
                          <a:effectLst/>
                        </a:rPr>
                        <a:t> 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>
                          <a:solidFill>
                            <a:srgbClr val="FFFFFF"/>
                          </a:solidFill>
                          <a:effectLst/>
                        </a:rPr>
                        <a:t>verkaufte Tiere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>
                          <a:solidFill>
                            <a:srgbClr val="FFFFFF"/>
                          </a:solidFill>
                          <a:effectLst/>
                        </a:rPr>
                        <a:t>Ø Gewicht in KG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>
                          <a:solidFill>
                            <a:srgbClr val="FFFFFF"/>
                          </a:solidFill>
                          <a:effectLst/>
                        </a:rPr>
                        <a:t>Ø Preis Netto in €/KG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>
                          <a:solidFill>
                            <a:srgbClr val="FFFFFF"/>
                          </a:solidFill>
                          <a:effectLst/>
                        </a:rPr>
                        <a:t>Ø Preis Brutto in €/KG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9095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Braunvieh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3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62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2,42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2,61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72288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Fleckvieh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27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77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6,93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7,47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62085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sonstige Rasse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4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70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4,66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5,02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37668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BV x FV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8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82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5,10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5,50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4854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BV x WBB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128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78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>
                          <a:effectLst/>
                        </a:rPr>
                        <a:t>7,16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dirty="0">
                          <a:effectLst/>
                        </a:rPr>
                        <a:t>7,72</a:t>
                      </a:r>
                    </a:p>
                  </a:txBody>
                  <a:tcPr marL="72009" marR="72009" marT="36005" marB="36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8467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139E9C96-9171-73D8-A7ED-0971C4705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4" y="632815"/>
            <a:ext cx="6519066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3D3935"/>
                </a:solidFill>
                <a:effectLst/>
                <a:latin typeface="BrandonTextWeb-Bold"/>
              </a:rPr>
              <a:t>Nutzkälberversteigerung am 15. 09. 2025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3D3935"/>
                </a:solidFill>
                <a:effectLst/>
                <a:latin typeface="BrandonTextWeb-Bold"/>
              </a:rPr>
              <a:t>Unterthingau</a:t>
            </a:r>
            <a:endParaRPr kumimoji="0" lang="de-DE" altLang="de-DE" sz="1800" b="1" i="0" u="none" strike="noStrike" cap="none" normalizeH="0" baseline="0" dirty="0">
              <a:ln>
                <a:noFill/>
              </a:ln>
              <a:solidFill>
                <a:srgbClr val="3D3935"/>
              </a:solidFill>
              <a:effectLst/>
              <a:latin typeface="BrandonTextWeb-Bol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1" i="0" u="none" strike="noStrike" cap="none" normalizeH="0" baseline="0" dirty="0">
              <a:ln>
                <a:noFill/>
              </a:ln>
              <a:solidFill>
                <a:srgbClr val="3D3935"/>
              </a:solidFill>
              <a:effectLst/>
              <a:latin typeface="BrandonTextWeb-Bol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3D3935"/>
                </a:solidFill>
                <a:effectLst/>
                <a:latin typeface="BrandonTextWeb-Bold"/>
              </a:rPr>
              <a:t>Bullenkälber</a:t>
            </a:r>
            <a:r>
              <a:rPr lang="de-DE" altLang="de-DE" sz="1800" b="1" dirty="0">
                <a:solidFill>
                  <a:srgbClr val="3D3935"/>
                </a:solidFill>
                <a:latin typeface="BrandonTextWeb-Bold"/>
              </a:rPr>
              <a:t> und Kuhkälber</a:t>
            </a:r>
            <a:endParaRPr kumimoji="0" lang="de-DE" altLang="de-DE" sz="1800" b="1" i="0" u="none" strike="noStrike" cap="none" normalizeH="0" baseline="0" dirty="0">
              <a:ln>
                <a:noFill/>
              </a:ln>
              <a:solidFill>
                <a:srgbClr val="3D3935"/>
              </a:solidFill>
              <a:effectLst/>
              <a:latin typeface="BrandonTextWeb-Bold"/>
            </a:endParaRPr>
          </a:p>
        </p:txBody>
      </p:sp>
    </p:spTree>
    <p:extLst>
      <p:ext uri="{BB962C8B-B14F-4D97-AF65-F5344CB8AC3E}">
        <p14:creationId xmlns:p14="http://schemas.microsoft.com/office/powerpoint/2010/main" val="2511111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 Kälbererlös</a:t>
            </a:r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985608"/>
              </p:ext>
            </p:extLst>
          </p:nvPr>
        </p:nvGraphicFramePr>
        <p:xfrm>
          <a:off x="372873" y="1862995"/>
          <a:ext cx="9518112" cy="42391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9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6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2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Durch. ZKZ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393 d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dirty="0">
                          <a:effectLst/>
                        </a:rPr>
                        <a:t>Rechnung: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Kälberverluste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10 % 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Rechnung: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3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Preis männl. Kalb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900 €</a:t>
                      </a:r>
                      <a:endParaRPr lang="de-D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3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Preis weibl. Kalb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534 €</a:t>
                      </a:r>
                      <a:endParaRPr lang="de-D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7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Mischpreis</a:t>
                      </a:r>
                      <a:endParaRPr lang="de-D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Rechnung:</a:t>
                      </a:r>
                      <a:r>
                        <a:rPr lang="de-DE" sz="1800" b="1" baseline="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32462" y="1207786"/>
            <a:ext cx="43684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Geschlechterverhältnis 50 : 50</a:t>
            </a:r>
            <a:endParaRPr kumimoji="0" lang="de-DE" altLang="de-D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05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 Kälbererlös</a:t>
            </a:r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836789"/>
              </p:ext>
            </p:extLst>
          </p:nvPr>
        </p:nvGraphicFramePr>
        <p:xfrm>
          <a:off x="636647" y="1854117"/>
          <a:ext cx="8996876" cy="42391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33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5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2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Durch. ZKZ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393 d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dirty="0">
                          <a:effectLst/>
                        </a:rPr>
                        <a:t>Rechnung: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dirty="0">
                          <a:effectLst/>
                        </a:rPr>
                        <a:t>365 d / 393 d = </a:t>
                      </a:r>
                      <a:r>
                        <a:rPr lang="de-DE" sz="1800" b="1" dirty="0">
                          <a:effectLst/>
                        </a:rPr>
                        <a:t>0,93 </a:t>
                      </a:r>
                      <a:r>
                        <a:rPr lang="de-DE" sz="1800" dirty="0">
                          <a:effectLst/>
                        </a:rPr>
                        <a:t>Kalbungen /</a:t>
                      </a:r>
                      <a:r>
                        <a:rPr lang="de-DE" sz="1800" baseline="0" dirty="0">
                          <a:effectLst/>
                        </a:rPr>
                        <a:t> </a:t>
                      </a:r>
                      <a:r>
                        <a:rPr lang="de-DE" sz="1800" dirty="0">
                          <a:effectLst/>
                        </a:rPr>
                        <a:t>Jahr und Kuh</a:t>
                      </a: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Kälberverluste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10 % 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Rechnung: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0,93 / 1,1 = </a:t>
                      </a:r>
                      <a:r>
                        <a:rPr lang="de-DE" sz="1800" b="1" dirty="0">
                          <a:effectLst/>
                        </a:rPr>
                        <a:t>0,84 </a:t>
                      </a:r>
                      <a:r>
                        <a:rPr lang="de-DE" sz="1800" dirty="0">
                          <a:effectLst/>
                        </a:rPr>
                        <a:t>Kalbungen / Jahr und Kuh</a:t>
                      </a: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3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Preis männl. Kalb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900 €</a:t>
                      </a:r>
                      <a:endParaRPr lang="de-D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3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Preis weibl. Kalb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534 €</a:t>
                      </a:r>
                      <a:endParaRPr lang="de-D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7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Mischpreis</a:t>
                      </a:r>
                      <a:endParaRPr lang="de-D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602 €</a:t>
                      </a:r>
                      <a:endParaRPr lang="de-D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=</a:t>
                      </a:r>
                      <a:r>
                        <a:rPr lang="de-DE" sz="1800" baseline="0" dirty="0">
                          <a:effectLst/>
                        </a:rPr>
                        <a:t> (</a:t>
                      </a:r>
                      <a:r>
                        <a:rPr lang="de-DE" sz="1800" dirty="0">
                          <a:effectLst/>
                        </a:rPr>
                        <a:t>0,42 * 900 €) + (0,42 * 534 €) </a:t>
                      </a: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36648" y="1438619"/>
            <a:ext cx="43684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Arial" pitchFamily="34" charset="0"/>
              </a:rPr>
              <a:t>Geschlechterverhältnis 50:50</a:t>
            </a:r>
            <a:endParaRPr kumimoji="0" lang="de-DE" altLang="de-D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2378714" y="5517232"/>
            <a:ext cx="1326147" cy="57606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532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1052567" y="1535307"/>
            <a:ext cx="8112901" cy="146164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Wirtschaftsdünger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052567" y="1535307"/>
            <a:ext cx="7976023" cy="4592637"/>
          </a:xfrm>
        </p:spPr>
        <p:txBody>
          <a:bodyPr/>
          <a:lstStyle/>
          <a:p>
            <a:pPr marL="0" indent="0" algn="ctr">
              <a:buNone/>
            </a:pPr>
            <a:r>
              <a:rPr lang="de-DE" sz="3200" b="1" dirty="0"/>
              <a:t>Wirtschaftsdünger =</a:t>
            </a:r>
          </a:p>
          <a:p>
            <a:pPr marL="0" indent="0" algn="ctr">
              <a:buNone/>
            </a:pPr>
            <a:r>
              <a:rPr lang="de-DE" sz="2000" b="1" dirty="0"/>
              <a:t>______________________________________________________________________________________________________________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de-DE" b="1" dirty="0">
                <a:sym typeface="Wingdings" panose="05000000000000000000" pitchFamily="2" charset="2"/>
              </a:rPr>
              <a:t></a:t>
            </a:r>
            <a:r>
              <a:rPr lang="de-DE" b="1" dirty="0"/>
              <a:t> Gülleanfall in m</a:t>
            </a:r>
            <a:r>
              <a:rPr lang="de-DE" b="1" baseline="30000" dirty="0"/>
              <a:t>3 </a:t>
            </a:r>
            <a:r>
              <a:rPr lang="de-DE" b="1" dirty="0"/>
              <a:t>pro Kuh und Jahr </a:t>
            </a:r>
          </a:p>
          <a:p>
            <a:pPr marL="0" indent="0">
              <a:buNone/>
            </a:pPr>
            <a:r>
              <a:rPr lang="de-DE" b="1" dirty="0">
                <a:sym typeface="Wingdings" panose="05000000000000000000" pitchFamily="2" charset="2"/>
              </a:rPr>
              <a:t></a:t>
            </a:r>
            <a:r>
              <a:rPr lang="de-DE" b="1" dirty="0"/>
              <a:t>  Nährstoffgehalt der Gülle</a:t>
            </a:r>
            <a:endParaRPr lang="de-DE" dirty="0"/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1910662" y="4941168"/>
            <a:ext cx="6318702" cy="86409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2024108" y="5042517"/>
            <a:ext cx="6205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Hilfsmittel: 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019903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1052567" y="1535307"/>
            <a:ext cx="8112901" cy="146164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Wirtschaftsdünger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49934" y="1748369"/>
            <a:ext cx="7644849" cy="4592637"/>
          </a:xfrm>
        </p:spPr>
        <p:txBody>
          <a:bodyPr/>
          <a:lstStyle/>
          <a:p>
            <a:pPr marL="0" indent="0" algn="ctr">
              <a:buNone/>
            </a:pPr>
            <a:r>
              <a:rPr lang="de-DE" sz="3200" b="1" dirty="0"/>
              <a:t>= Menge an Nährstoffen, die nicht als Mineraldünger zugekauft werden</a:t>
            </a:r>
          </a:p>
          <a:p>
            <a:pPr marL="0" indent="0" algn="ctr">
              <a:buNone/>
            </a:pPr>
            <a:endParaRPr lang="de-DE" sz="3200" b="1" dirty="0"/>
          </a:p>
          <a:p>
            <a:pPr marL="0" indent="0" algn="ctr">
              <a:buNone/>
            </a:pPr>
            <a:r>
              <a:rPr lang="de-DE" sz="3200" b="1" dirty="0">
                <a:sym typeface="Wingdings" panose="05000000000000000000" pitchFamily="2" charset="2"/>
              </a:rPr>
              <a:t></a:t>
            </a:r>
            <a:r>
              <a:rPr lang="de-DE" sz="3200" b="1" dirty="0"/>
              <a:t> Gülleanfall in </a:t>
            </a:r>
            <a:r>
              <a:rPr lang="de-DE" b="1" dirty="0"/>
              <a:t>m</a:t>
            </a:r>
            <a:r>
              <a:rPr lang="de-DE" b="1" baseline="30000" dirty="0"/>
              <a:t>3 </a:t>
            </a:r>
            <a:r>
              <a:rPr lang="de-DE" b="1" dirty="0"/>
              <a:t>pro Kuh und Jahr </a:t>
            </a:r>
          </a:p>
          <a:p>
            <a:pPr marL="0" indent="0" algn="ctr">
              <a:buNone/>
            </a:pPr>
            <a:r>
              <a:rPr lang="de-DE" b="1" dirty="0">
                <a:sym typeface="Wingdings" panose="05000000000000000000" pitchFamily="2" charset="2"/>
              </a:rPr>
              <a:t> </a:t>
            </a:r>
            <a:r>
              <a:rPr lang="de-DE" b="1" dirty="0"/>
              <a:t> Nährstoffgehalt der Gülle</a:t>
            </a:r>
            <a:endParaRPr lang="de-DE" dirty="0"/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1910662" y="4941168"/>
            <a:ext cx="6318702" cy="86409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2400" dirty="0">
                <a:latin typeface="Times New Roman" charset="0"/>
              </a:rPr>
              <a:t>Nährstoffbilanz Stall frei Feld</a:t>
            </a: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139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Kalkulation Düngewert Stall frei Feld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" t="57076" r="64334" b="12339"/>
          <a:stretch/>
        </p:blipFill>
        <p:spPr bwMode="auto">
          <a:xfrm>
            <a:off x="466345" y="1229406"/>
            <a:ext cx="8906256" cy="4906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303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Variable Kosten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Bestandsergänzung</a:t>
            </a:r>
          </a:p>
          <a:p>
            <a:r>
              <a:rPr lang="de-DE" dirty="0"/>
              <a:t>Kälberaufzucht</a:t>
            </a:r>
          </a:p>
          <a:p>
            <a:r>
              <a:rPr lang="de-DE" dirty="0"/>
              <a:t>Kraftfutterkosten</a:t>
            </a:r>
          </a:p>
          <a:p>
            <a:r>
              <a:rPr lang="de-DE" dirty="0"/>
              <a:t>Variable Maschinenkosten</a:t>
            </a:r>
          </a:p>
          <a:p>
            <a:r>
              <a:rPr lang="de-DE" dirty="0"/>
              <a:t>Tierarzt</a:t>
            </a:r>
          </a:p>
          <a:p>
            <a:r>
              <a:rPr lang="de-DE" dirty="0"/>
              <a:t>Besamung</a:t>
            </a:r>
          </a:p>
          <a:p>
            <a:r>
              <a:rPr lang="de-DE" dirty="0"/>
              <a:t>Wasser, Strom</a:t>
            </a:r>
          </a:p>
          <a:p>
            <a:r>
              <a:rPr lang="de-DE" dirty="0"/>
              <a:t>Gebühren, Beiträge</a:t>
            </a:r>
          </a:p>
        </p:txBody>
      </p:sp>
    </p:spTree>
    <p:extLst>
      <p:ext uri="{BB962C8B-B14F-4D97-AF65-F5344CB8AC3E}">
        <p14:creationId xmlns:p14="http://schemas.microsoft.com/office/powerpoint/2010/main" val="804673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Bestandsergänzung</a:t>
            </a:r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688612"/>
              </p:ext>
            </p:extLst>
          </p:nvPr>
        </p:nvGraphicFramePr>
        <p:xfrm>
          <a:off x="935554" y="3068961"/>
          <a:ext cx="8112901" cy="23217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3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6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Wert der Jungkuh</a:t>
                      </a: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Remontierungsquote</a:t>
                      </a: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Kosten der Remontierung</a:t>
                      </a: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53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1.800 €</a:t>
                      </a: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30 %</a:t>
                      </a: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 </a:t>
                      </a: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hteck 6"/>
          <p:cNvSpPr/>
          <p:nvPr/>
        </p:nvSpPr>
        <p:spPr bwMode="auto">
          <a:xfrm>
            <a:off x="1364601" y="1535305"/>
            <a:ext cx="7254806" cy="1245624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Bestandsergänzung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= 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845545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Bestandsergänzung</a:t>
            </a:r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</p:nvPr>
        </p:nvGraphicFramePr>
        <p:xfrm>
          <a:off x="935554" y="3068961"/>
          <a:ext cx="8112901" cy="23217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3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6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Wert der Jungkuh</a:t>
                      </a: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Remontierungsquote</a:t>
                      </a: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Kosten der Remontierung</a:t>
                      </a:r>
                      <a:endParaRPr lang="de-DE" sz="18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53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1.800 €</a:t>
                      </a: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30 %</a:t>
                      </a: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18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1.800 * 0,3 = </a:t>
                      </a:r>
                      <a:r>
                        <a:rPr lang="de-DE" sz="1800" b="1" dirty="0">
                          <a:effectLst/>
                        </a:rPr>
                        <a:t>540 €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 </a:t>
                      </a:r>
                      <a:endParaRPr lang="de-D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hteck 6"/>
          <p:cNvSpPr/>
          <p:nvPr/>
        </p:nvSpPr>
        <p:spPr bwMode="auto">
          <a:xfrm>
            <a:off x="1364601" y="1535305"/>
            <a:ext cx="7254806" cy="124562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= Preis Jungkuh x Remontierungsquote</a:t>
            </a:r>
          </a:p>
        </p:txBody>
      </p:sp>
      <p:sp>
        <p:nvSpPr>
          <p:cNvPr id="10" name="Ellipse 9"/>
          <p:cNvSpPr/>
          <p:nvPr/>
        </p:nvSpPr>
        <p:spPr bwMode="auto">
          <a:xfrm>
            <a:off x="7917330" y="4365104"/>
            <a:ext cx="1092121" cy="57606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016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Kälberaufzucht</a:t>
            </a:r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4114022"/>
              </p:ext>
            </p:extLst>
          </p:nvPr>
        </p:nvGraphicFramePr>
        <p:xfrm>
          <a:off x="295330" y="1831017"/>
          <a:ext cx="9205024" cy="40147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30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196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Futtermittel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Futtermittel-preis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€/ kg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Tränk-/ Futtermenge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kg/ Kalb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Aufzuchtkosten/ Kalb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€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Vollmilch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2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MAT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Kälberaufzuchtfutter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268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Summe Aufzuchtkosten 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65100" y="1191867"/>
            <a:ext cx="3650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Tränkedauer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 8 Wochen</a:t>
            </a:r>
            <a:endParaRPr kumimoji="0" lang="de-DE" altLang="de-D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459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Kälberaufzucht</a:t>
            </a:r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</p:nvPr>
        </p:nvGraphicFramePr>
        <p:xfrm>
          <a:off x="399495" y="2132858"/>
          <a:ext cx="9234025" cy="388764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59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95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Futtermittel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Futtermittel-preis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€/ kg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Tränk-/ Futtermenge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kg/ Kalb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Aufzuchtkosten/ Kalb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€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Vollmilch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0,32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48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(1.+2.Woche)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15,42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2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MAT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2,52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37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 93,24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3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Kälberstarter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</a:rPr>
                        <a:t>0,40</a:t>
                      </a:r>
                      <a:endParaRPr lang="de-DE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29,5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11,80</a:t>
                      </a: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268">
                <a:tc grid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</a:rPr>
                        <a:t>Summe Aufzuchtkosten </a:t>
                      </a:r>
                      <a:endParaRPr lang="de-DE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120,46</a:t>
                      </a: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11834" y="1379975"/>
            <a:ext cx="3650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Tränkedauer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 8 Wochen</a:t>
            </a:r>
            <a:endParaRPr kumimoji="0" lang="de-DE" altLang="de-D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0" name="Ellipse 9"/>
          <p:cNvSpPr/>
          <p:nvPr/>
        </p:nvSpPr>
        <p:spPr bwMode="auto">
          <a:xfrm>
            <a:off x="7818646" y="5414157"/>
            <a:ext cx="1326147" cy="57606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041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Kraftfutterkosten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6463" y="1412778"/>
            <a:ext cx="9637137" cy="4683225"/>
          </a:xfrm>
        </p:spPr>
        <p:txBody>
          <a:bodyPr/>
          <a:lstStyle/>
          <a:p>
            <a:r>
              <a:rPr lang="de-DE" dirty="0"/>
              <a:t>Berechnung der gebrauchten Menge an Energie für entsprechende Leistung </a:t>
            </a:r>
          </a:p>
          <a:p>
            <a:pPr marL="379413" lvl="1" indent="0">
              <a:buNone/>
            </a:pPr>
            <a:r>
              <a:rPr lang="de-DE" dirty="0"/>
              <a:t>z. B. bei Leistung von 7.450 kg / Kuh u. Jahr</a:t>
            </a:r>
          </a:p>
          <a:p>
            <a:pPr marL="379413" lvl="1" indent="0">
              <a:buNone/>
            </a:pPr>
            <a:r>
              <a:rPr lang="de-DE" dirty="0">
                <a:sym typeface="Wingdings" panose="05000000000000000000" pitchFamily="2" charset="2"/>
              </a:rPr>
              <a:t>  </a:t>
            </a:r>
            <a:r>
              <a:rPr lang="de-DE" dirty="0"/>
              <a:t>Gesamtenergiebedarf von 39.888 MJ NEL/ Jahr</a:t>
            </a:r>
          </a:p>
          <a:p>
            <a:r>
              <a:rPr lang="de-DE" dirty="0"/>
              <a:t>Abzug der Leistung aus dem Grobfutter </a:t>
            </a:r>
          </a:p>
          <a:p>
            <a:pPr marL="379413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Kraftfutterbedarf von ca. 24 dt / Kuh u. Jahr</a:t>
            </a:r>
          </a:p>
          <a:p>
            <a:endParaRPr lang="de-DE" dirty="0"/>
          </a:p>
        </p:txBody>
      </p:sp>
      <p:sp>
        <p:nvSpPr>
          <p:cNvPr id="6" name="Rechteck 5"/>
          <p:cNvSpPr/>
          <p:nvPr/>
        </p:nvSpPr>
        <p:spPr bwMode="auto">
          <a:xfrm>
            <a:off x="350914" y="4653137"/>
            <a:ext cx="9205023" cy="1224136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= _______________________________________________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_________________________________________________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405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Kraftfutterkosten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6463" y="1412778"/>
            <a:ext cx="9637137" cy="4683225"/>
          </a:xfrm>
        </p:spPr>
        <p:txBody>
          <a:bodyPr/>
          <a:lstStyle/>
          <a:p>
            <a:r>
              <a:rPr lang="de-DE" dirty="0"/>
              <a:t>Berechnung der gebrauchten Menge an Energie für entsprechende Leistung </a:t>
            </a:r>
          </a:p>
          <a:p>
            <a:pPr marL="379413" lvl="1" indent="0">
              <a:buNone/>
            </a:pPr>
            <a:r>
              <a:rPr lang="de-DE" dirty="0"/>
              <a:t>z.B. bei Leistung von 7.450 kg / Kuh u. Jahr</a:t>
            </a:r>
          </a:p>
          <a:p>
            <a:pPr marL="379413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Gesamtenergiebedarf von 39.888 MJ NEL/ Jahr</a:t>
            </a:r>
          </a:p>
          <a:p>
            <a:r>
              <a:rPr lang="de-DE" dirty="0"/>
              <a:t>Abzug der Leistung aus dem Grobfutter </a:t>
            </a:r>
          </a:p>
          <a:p>
            <a:pPr marL="379413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Kraftfutterbedarf von ca. 24 dt / Kuh und Jahr</a:t>
            </a:r>
          </a:p>
          <a:p>
            <a:endParaRPr lang="de-DE" dirty="0"/>
          </a:p>
        </p:txBody>
      </p:sp>
      <p:sp>
        <p:nvSpPr>
          <p:cNvPr id="6" name="Rechteck 5"/>
          <p:cNvSpPr/>
          <p:nvPr/>
        </p:nvSpPr>
        <p:spPr bwMode="auto">
          <a:xfrm>
            <a:off x="350914" y="4653137"/>
            <a:ext cx="9205023" cy="12241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= Kraftfutterbedarf Kuh und Jahr + Mineralfutterbedarf Kuh und Jahr x Kosten je dt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690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Tierarzt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Tierärztliche Leistungen</a:t>
            </a:r>
          </a:p>
          <a:p>
            <a:r>
              <a:rPr lang="de-DE" dirty="0"/>
              <a:t>Kosten Arzneimitteleinsatz </a:t>
            </a:r>
          </a:p>
          <a:p>
            <a:r>
              <a:rPr lang="de-DE" dirty="0"/>
              <a:t>Betriebseigene Vorsorge- und Heilbehandlungen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Rechteck 5"/>
          <p:cNvSpPr/>
          <p:nvPr/>
        </p:nvSpPr>
        <p:spPr bwMode="auto">
          <a:xfrm>
            <a:off x="896550" y="3717034"/>
            <a:ext cx="8112901" cy="146164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Tierarztkosten in Bayern ø</a:t>
            </a:r>
            <a:r>
              <a:rPr kumimoji="0" lang="de-DE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__________________________</a:t>
            </a:r>
            <a:endParaRPr kumimoji="0" 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9199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Tierarzt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Tierärztliche Leistungen</a:t>
            </a:r>
          </a:p>
          <a:p>
            <a:r>
              <a:rPr lang="de-DE" dirty="0"/>
              <a:t>Kosten Arzneimitteleinsatz </a:t>
            </a:r>
          </a:p>
          <a:p>
            <a:r>
              <a:rPr lang="de-DE" dirty="0"/>
              <a:t>Betriebseigene Vorsorge- und Heilbehandlungen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Rechteck 5"/>
          <p:cNvSpPr/>
          <p:nvPr/>
        </p:nvSpPr>
        <p:spPr bwMode="auto">
          <a:xfrm>
            <a:off x="896550" y="3717034"/>
            <a:ext cx="8112901" cy="146164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Tierarztkosten in Bayern Ø 175</a:t>
            </a:r>
            <a:r>
              <a:rPr kumimoji="0" lang="de-DE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€ / Kuh und Jahr</a:t>
            </a:r>
            <a:endParaRPr kumimoji="0" 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93678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Wasser und Strom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Wasserkosten durch Brauchwasser und Tränkwasser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Aufwendungen für Stall und Licht, Technik, Milchgewinnung und -kühlung</a:t>
            </a:r>
          </a:p>
          <a:p>
            <a:pPr marL="379413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Abhängig von Stallsystem und Technisierung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4892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Variable Maschinenkosten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Reparaturen und Ersatzteilbeschaffung </a:t>
            </a:r>
          </a:p>
          <a:p>
            <a:pPr lvl="1"/>
            <a:r>
              <a:rPr lang="de-DE" dirty="0"/>
              <a:t>Aufstallungstechnik, Lüftungs- und Klimatechnik, Futtervorlagetechnik, Melktechnik, Milchkühlung und Milchlagerung, Entmistungstechnik</a:t>
            </a:r>
          </a:p>
          <a:p>
            <a:pPr marL="379413" lvl="1" indent="0">
              <a:buNone/>
            </a:pPr>
            <a:endParaRPr lang="de-DE" dirty="0"/>
          </a:p>
          <a:p>
            <a:r>
              <a:rPr lang="de-DE" dirty="0"/>
              <a:t>Variable Kosten der Futtervorlage (u.a. Futtermischwagen)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92464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Gebühren und Beiträge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3200" dirty="0"/>
              <a:t>Beitrag Tierseuchenkasse</a:t>
            </a:r>
          </a:p>
          <a:p>
            <a:r>
              <a:rPr lang="de-DE" sz="3200" dirty="0"/>
              <a:t>Gebühren Milchleistungsprüfung</a:t>
            </a:r>
          </a:p>
          <a:p>
            <a:r>
              <a:rPr lang="de-DE" sz="3200" dirty="0"/>
              <a:t>Tierkennzeichnung</a:t>
            </a:r>
          </a:p>
          <a:p>
            <a:r>
              <a:rPr lang="de-DE" sz="3200" dirty="0"/>
              <a:t>Mitgliedschaft Tierzuchtverbände</a:t>
            </a:r>
          </a:p>
          <a:p>
            <a:r>
              <a:rPr lang="de-DE" sz="3200" dirty="0"/>
              <a:t>Gebühren Spezialberatung (Fütterungsberatung, Melktechnikberatung)</a:t>
            </a:r>
          </a:p>
        </p:txBody>
      </p:sp>
    </p:spTree>
    <p:extLst>
      <p:ext uri="{BB962C8B-B14F-4D97-AF65-F5344CB8AC3E}">
        <p14:creationId xmlns:p14="http://schemas.microsoft.com/office/powerpoint/2010/main" val="269592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Deckungsbeitrag 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>
              <a:spcBef>
                <a:spcPts val="1800"/>
              </a:spcBef>
            </a:pPr>
            <a:r>
              <a:rPr lang="de-DE" dirty="0"/>
              <a:t>Kosten für Erzeugung des Grobfutters nicht beachtet </a:t>
            </a:r>
          </a:p>
          <a:p>
            <a:r>
              <a:rPr lang="de-DE" dirty="0"/>
              <a:t>Grobfutterleistung hat größeren Wert in Milcherzeugung</a:t>
            </a:r>
          </a:p>
          <a:p>
            <a:pPr marL="379413" lvl="1" indent="0">
              <a:buNone/>
            </a:pPr>
            <a:endParaRPr lang="de-DE" sz="3200" b="1" dirty="0"/>
          </a:p>
          <a:p>
            <a:pPr marL="379413" lvl="1" indent="0">
              <a:buNone/>
            </a:pPr>
            <a:r>
              <a:rPr lang="de-DE" sz="3200" b="1" dirty="0"/>
              <a:t>Deckungsbeitrag II</a:t>
            </a:r>
          </a:p>
        </p:txBody>
      </p:sp>
      <p:sp>
        <p:nvSpPr>
          <p:cNvPr id="6" name="Rechteck 5"/>
          <p:cNvSpPr/>
          <p:nvPr/>
        </p:nvSpPr>
        <p:spPr bwMode="auto">
          <a:xfrm>
            <a:off x="381919" y="1557710"/>
            <a:ext cx="9205023" cy="1224136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= _______________________________________________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______________________________________________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9292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Deckungsbeitrag 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83829" y="1241649"/>
            <a:ext cx="9601201" cy="4960883"/>
          </a:xfrm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Kosten für Erzeugung des Grobfutters nicht beachtet </a:t>
            </a:r>
          </a:p>
          <a:p>
            <a:r>
              <a:rPr lang="de-DE" dirty="0"/>
              <a:t>Grobfutterleistung hat größeren Wert in Milcherzeugung</a:t>
            </a:r>
          </a:p>
          <a:p>
            <a:pPr marL="379413" lvl="1" indent="0">
              <a:buNone/>
            </a:pPr>
            <a:r>
              <a:rPr lang="de-DE" sz="3200" b="1" dirty="0"/>
              <a:t>  </a:t>
            </a:r>
          </a:p>
          <a:p>
            <a:pPr marL="379413" lvl="1" indent="0">
              <a:buNone/>
            </a:pPr>
            <a:r>
              <a:rPr lang="de-DE" sz="3200" b="1" dirty="0"/>
              <a:t>Ergebnis = Deckungsbeitrag II</a:t>
            </a:r>
          </a:p>
        </p:txBody>
      </p:sp>
      <p:sp>
        <p:nvSpPr>
          <p:cNvPr id="6" name="Rechteck 5"/>
          <p:cNvSpPr/>
          <p:nvPr/>
        </p:nvSpPr>
        <p:spPr bwMode="auto">
          <a:xfrm>
            <a:off x="381919" y="1681998"/>
            <a:ext cx="9205023" cy="12241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2800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=  ∑ Marktleistungen - ∑ variablen Kosten</a:t>
            </a:r>
          </a:p>
        </p:txBody>
      </p:sp>
    </p:spTree>
    <p:extLst>
      <p:ext uri="{BB962C8B-B14F-4D97-AF65-F5344CB8AC3E}">
        <p14:creationId xmlns:p14="http://schemas.microsoft.com/office/powerpoint/2010/main" val="34595484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Deckungsbeitrag II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Rechteck 5"/>
          <p:cNvSpPr/>
          <p:nvPr/>
        </p:nvSpPr>
        <p:spPr bwMode="auto">
          <a:xfrm>
            <a:off x="272479" y="1973055"/>
            <a:ext cx="9470479" cy="212842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2800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Deckungsbeitrag II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= _______________________________________________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70739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Deckungsbeitrag II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Rechteck 5"/>
          <p:cNvSpPr/>
          <p:nvPr/>
        </p:nvSpPr>
        <p:spPr bwMode="auto">
          <a:xfrm>
            <a:off x="272480" y="2852936"/>
            <a:ext cx="9470479" cy="136815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2800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800" b="1" dirty="0"/>
              <a:t>=  Deckungsbeitrag I - ∑ variable Grobfutterkosten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5391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Grobfutterkosten</a:t>
            </a:r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877206"/>
              </p:ext>
            </p:extLst>
          </p:nvPr>
        </p:nvGraphicFramePr>
        <p:xfrm>
          <a:off x="533880" y="1952836"/>
          <a:ext cx="7956887" cy="400729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51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 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Silomais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Grassilage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7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Aufnahme dt TM/ Kuh Jahr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21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21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9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Var. Kosten € je dt TM-Ertrag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11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12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39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dirty="0">
                          <a:effectLst/>
                        </a:rPr>
                        <a:t>Var. Gesamtkosten € je Futterverbrauch je Kuh und Jahr</a:t>
                      </a:r>
                      <a:endParaRPr lang="de-D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21 </a:t>
                      </a:r>
                      <a:r>
                        <a:rPr lang="de-DE" sz="1800" b="0" dirty="0" err="1">
                          <a:effectLst/>
                          <a:latin typeface="+mj-lt"/>
                          <a:ea typeface="Calibri"/>
                          <a:cs typeface="Times New Roman"/>
                        </a:rPr>
                        <a:t>dt</a:t>
                      </a:r>
                      <a:r>
                        <a:rPr lang="de-DE" sz="1800" b="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 x 11 € = </a:t>
                      </a:r>
                      <a:r>
                        <a:rPr lang="de-DE" sz="18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231 €</a:t>
                      </a:r>
                    </a:p>
                  </a:txBody>
                  <a:tcPr marL="74295" marR="742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21 </a:t>
                      </a:r>
                      <a:r>
                        <a:rPr lang="de-DE" sz="1800" b="0" dirty="0" err="1">
                          <a:effectLst/>
                          <a:latin typeface="+mj-lt"/>
                          <a:ea typeface="Calibri"/>
                          <a:cs typeface="Times New Roman"/>
                        </a:rPr>
                        <a:t>dt</a:t>
                      </a:r>
                      <a:r>
                        <a:rPr lang="de-DE" sz="1800" b="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 x 12 € = </a:t>
                      </a:r>
                      <a:r>
                        <a:rPr lang="de-DE" sz="18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252 €</a:t>
                      </a:r>
                    </a:p>
                  </a:txBody>
                  <a:tcPr marL="74295" marR="742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9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1800" b="1" dirty="0">
                          <a:effectLst/>
                        </a:rPr>
                        <a:t>Summe Grundfutterkosten</a:t>
                      </a:r>
                      <a:endParaRPr lang="de-D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4295" marR="74295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de-DE" sz="2000" b="1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483 €</a:t>
                      </a:r>
                    </a:p>
                  </a:txBody>
                  <a:tcPr marL="74295" marR="74295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71450" y="1095570"/>
            <a:ext cx="731865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(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Arial" pitchFamily="34" charset="0"/>
              </a:rPr>
              <a:t>Ü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berschlagsrechnung)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50 % Maissilage + 50 % Grassilage</a:t>
            </a:r>
            <a:r>
              <a:rPr kumimoji="0" lang="de-DE" alt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801B1D5-A4F3-D96C-B2DA-DFED460297E0}"/>
              </a:ext>
            </a:extLst>
          </p:cNvPr>
          <p:cNvSpPr/>
          <p:nvPr/>
        </p:nvSpPr>
        <p:spPr bwMode="auto">
          <a:xfrm>
            <a:off x="5047488" y="5254724"/>
            <a:ext cx="1719072" cy="705406"/>
          </a:xfrm>
          <a:prstGeom prst="ellipse">
            <a:avLst/>
          </a:prstGeom>
          <a:noFill/>
          <a:ln w="22225" cap="flat" cmpd="sng" algn="ctr">
            <a:solidFill>
              <a:schemeClr val="tx1">
                <a:alpha val="9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9979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C05CB-CEE3-F3FE-3187-1A211CB1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Berechnungsbeispiel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72E586-5C05-E0D0-D7EF-84E9AB23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2" y="932689"/>
            <a:ext cx="9601201" cy="5163312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DB Milchkuh I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1843603-47CA-A78E-3FD8-178050D5C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47505"/>
              </p:ext>
            </p:extLst>
          </p:nvPr>
        </p:nvGraphicFramePr>
        <p:xfrm>
          <a:off x="448056" y="1468436"/>
          <a:ext cx="8823960" cy="4990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52744">
                  <a:extLst>
                    <a:ext uri="{9D8B030D-6E8A-4147-A177-3AD203B41FA5}">
                      <a16:colId xmlns:a16="http://schemas.microsoft.com/office/drawing/2014/main" val="1935858719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4021050932"/>
                    </a:ext>
                  </a:extLst>
                </a:gridCol>
              </a:tblGrid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Leistungen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Ergebnis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05725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Milcherlös: 7450 kg*0,5169 €/kg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3.851 €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917716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Kälbererlös: 0,84*(900+534)/2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602 €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45053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Altkuherlös: 0,30*2.486 €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746 €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914828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Marktleistung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5.199 €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938751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Wirtschaftsdünger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116 €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854800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Summe der Leistungen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5.315 €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20178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Bestandsergänzung: 0,30*1800 €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540 €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301003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Kälberaufzucht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149236"/>
                  </a:ext>
                </a:extLst>
              </a:tr>
              <a:tr h="55446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Kraft- und Mineralfutter: 26,20 €/dt*25,23 dt+50 €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711 €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86033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Tierarztkosten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175 €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64738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Besamungskosten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40 €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744665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Wasser und Energie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474872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 Maschinenkosten Stall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916130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Gebühren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50 €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68401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Summe variable Kosten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1.995 €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441638"/>
                  </a:ext>
                </a:extLst>
              </a:tr>
              <a:tr h="2772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Deckungsbeitrag 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tabLst>
                          <a:tab pos="3771900" algn="l"/>
                        </a:tabLst>
                      </a:pPr>
                      <a:r>
                        <a:rPr lang="de-DE" sz="1600" b="1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3.320 €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299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8970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Standard-Deckungsbeitrag	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/>
              <a:t>Betriebe mit gleichen Produktionsverfahren ( = gleiches Betriebssystem)</a:t>
            </a:r>
          </a:p>
          <a:p>
            <a:r>
              <a:rPr lang="de-DE" sz="2400" dirty="0"/>
              <a:t>Verwendung durchschnittlicher Marktleistungen und durchschnittlicher veränderlicher Kosten (Rahmenbedingungen wie Standort, Können des Betriebsleiters etc. sind dadurch vereinheitlicht)</a:t>
            </a:r>
          </a:p>
          <a:p>
            <a:r>
              <a:rPr lang="de-DE" sz="2400" dirty="0">
                <a:sym typeface="Wingdings" panose="05000000000000000000" pitchFamily="2" charset="2"/>
              </a:rPr>
              <a:t>Berechnung des eigenen DB nach vorgegebener Systematik: Überbetrieblicher Vergleich möglich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8331969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25794-BA8E-3D64-4BBF-9ECA88F2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Berechnungsbeispiel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27E357-F0E1-FEB1-F525-D141BF74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2" y="1014985"/>
            <a:ext cx="9601201" cy="5081016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DB Winterweizen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B3AC78E-BC9F-89AF-9737-E7086AA68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225243"/>
              </p:ext>
            </p:extLst>
          </p:nvPr>
        </p:nvGraphicFramePr>
        <p:xfrm>
          <a:off x="466344" y="1600200"/>
          <a:ext cx="8714232" cy="4495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10517">
                  <a:extLst>
                    <a:ext uri="{9D8B030D-6E8A-4147-A177-3AD203B41FA5}">
                      <a16:colId xmlns:a16="http://schemas.microsoft.com/office/drawing/2014/main" val="2016712351"/>
                    </a:ext>
                  </a:extLst>
                </a:gridCol>
                <a:gridCol w="1877679">
                  <a:extLst>
                    <a:ext uri="{9D8B030D-6E8A-4147-A177-3AD203B41FA5}">
                      <a16:colId xmlns:a16="http://schemas.microsoft.com/office/drawing/2014/main" val="813726096"/>
                    </a:ext>
                  </a:extLst>
                </a:gridCol>
                <a:gridCol w="2126036">
                  <a:extLst>
                    <a:ext uri="{9D8B030D-6E8A-4147-A177-3AD203B41FA5}">
                      <a16:colId xmlns:a16="http://schemas.microsoft.com/office/drawing/2014/main" val="2148223281"/>
                    </a:ext>
                  </a:extLst>
                </a:gridCol>
              </a:tblGrid>
              <a:tr h="370801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/>
                          </a:solidFill>
                          <a:effectLst/>
                        </a:rPr>
                        <a:t>Position</a:t>
                      </a:r>
                      <a:endParaRPr lang="de-DE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/>
                          </a:solidFill>
                          <a:effectLst/>
                        </a:rPr>
                        <a:t>DB 1 (E-Weizen)</a:t>
                      </a:r>
                      <a:endParaRPr lang="de-DE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/>
                          </a:solidFill>
                          <a:effectLst/>
                        </a:rPr>
                        <a:t>DB 2 (Futterweizen)</a:t>
                      </a:r>
                      <a:endParaRPr lang="de-DE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302428"/>
                  </a:ext>
                </a:extLst>
              </a:tr>
              <a:tr h="382348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chemeClr val="tx1"/>
                          </a:solidFill>
                          <a:effectLst/>
                        </a:rPr>
                        <a:t> Kornertrag</a:t>
                      </a:r>
                      <a:endParaRPr lang="de-DE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65 </a:t>
                      </a:r>
                      <a:r>
                        <a:rPr lang="de-DE" sz="1600" dirty="0" err="1">
                          <a:effectLst/>
                        </a:rPr>
                        <a:t>dt</a:t>
                      </a:r>
                      <a:r>
                        <a:rPr lang="de-DE" sz="1600" dirty="0">
                          <a:effectLst/>
                        </a:rPr>
                        <a:t>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90dt/ha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3823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chemeClr val="tx1"/>
                          </a:solidFill>
                          <a:effectLst/>
                        </a:rPr>
                        <a:t>Erzeugerpreis</a:t>
                      </a:r>
                      <a:endParaRPr lang="de-DE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25 €/</a:t>
                      </a:r>
                      <a:r>
                        <a:rPr lang="de-DE" sz="1600" dirty="0" err="1">
                          <a:effectLst/>
                        </a:rPr>
                        <a:t>dt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17 €/</a:t>
                      </a:r>
                      <a:r>
                        <a:rPr lang="de-DE" sz="1600" dirty="0" err="1">
                          <a:effectLst/>
                        </a:rPr>
                        <a:t>dt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008852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chemeClr val="tx1"/>
                          </a:solidFill>
                          <a:effectLst/>
                        </a:rPr>
                        <a:t>Marktleistung</a:t>
                      </a:r>
                      <a:endParaRPr lang="de-DE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1.625 €/ha</a:t>
                      </a:r>
                      <a:endParaRPr lang="de-DE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1.530 €/ha</a:t>
                      </a:r>
                      <a:endParaRPr lang="de-DE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381730"/>
                  </a:ext>
                </a:extLst>
              </a:tr>
              <a:tr h="382348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chemeClr val="tx1"/>
                          </a:solidFill>
                          <a:effectLst/>
                        </a:rPr>
                        <a:t>Saatgut</a:t>
                      </a:r>
                      <a:endParaRPr lang="de-DE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85 €/ha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85 €/ha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413255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chemeClr val="tx1"/>
                          </a:solidFill>
                          <a:effectLst/>
                        </a:rPr>
                        <a:t>Düngung</a:t>
                      </a:r>
                      <a:endParaRPr lang="de-DE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275 €/ha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380 €/ha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361003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chemeClr val="tx1"/>
                          </a:solidFill>
                          <a:effectLst/>
                        </a:rPr>
                        <a:t>Pflanzenschutz</a:t>
                      </a:r>
                      <a:endParaRPr lang="de-DE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130 €/ha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250 €/ha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11808"/>
                  </a:ext>
                </a:extLst>
              </a:tr>
              <a:tr h="382348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chemeClr val="tx1"/>
                          </a:solidFill>
                          <a:effectLst/>
                        </a:rPr>
                        <a:t>variable Maschinenkosten / MR / LU</a:t>
                      </a:r>
                      <a:endParaRPr lang="de-DE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305 €/ha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1"/>
                          </a:solidFill>
                          <a:effectLst/>
                        </a:rPr>
                        <a:t>315 €/ha</a:t>
                      </a:r>
                      <a:endParaRPr lang="de-DE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893647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chemeClr val="tx1"/>
                          </a:solidFill>
                          <a:effectLst/>
                        </a:rPr>
                        <a:t>Trocknungskosten</a:t>
                      </a:r>
                      <a:endParaRPr lang="de-DE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50 €/ha</a:t>
                      </a:r>
                      <a:endParaRPr lang="de-DE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75 €/ha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367222"/>
                  </a:ext>
                </a:extLst>
              </a:tr>
              <a:tr h="382348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chemeClr val="tx1"/>
                          </a:solidFill>
                          <a:effectLst/>
                        </a:rPr>
                        <a:t>Hagelversicherung</a:t>
                      </a:r>
                      <a:endParaRPr lang="de-DE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20 €/ha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30 €/ha</a:t>
                      </a:r>
                      <a:endParaRPr lang="de-D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717302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chemeClr val="tx1"/>
                          </a:solidFill>
                          <a:effectLst/>
                        </a:rPr>
                        <a:t>Summe variable Kosten</a:t>
                      </a:r>
                      <a:endParaRPr lang="de-DE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865 €/ha</a:t>
                      </a:r>
                      <a:endParaRPr lang="de-DE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1135 €/ha</a:t>
                      </a:r>
                      <a:endParaRPr lang="de-DE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550336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chemeClr val="tx1"/>
                          </a:solidFill>
                          <a:effectLst/>
                        </a:rPr>
                        <a:t>Deckungsbeitrag</a:t>
                      </a:r>
                      <a:endParaRPr lang="de-DE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760 €/ha</a:t>
                      </a:r>
                      <a:endParaRPr lang="de-DE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395 €/ha</a:t>
                      </a:r>
                      <a:endParaRPr lang="de-DE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272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5001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25" y="175709"/>
            <a:ext cx="9555163" cy="534390"/>
          </a:xfrm>
        </p:spPr>
        <p:txBody>
          <a:bodyPr/>
          <a:lstStyle/>
          <a:p>
            <a:r>
              <a:rPr lang="de-DE" dirty="0"/>
              <a:t>LfL-Deckungsbeitragsrechner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>
              <a:buFont typeface="Wingdings"/>
              <a:buChar char="à"/>
            </a:pPr>
            <a:r>
              <a:rPr lang="de-DE" dirty="0">
                <a:sym typeface="Wingdings" panose="05000000000000000000" pitchFamily="2" charset="2"/>
              </a:rPr>
              <a:t>LfL-DB-Rechner:</a:t>
            </a:r>
          </a:p>
          <a:p>
            <a:pPr marL="0" indent="0">
              <a:buNone/>
            </a:pPr>
            <a:r>
              <a:rPr lang="de-DE" dirty="0"/>
              <a:t>https://www.stmelf.bayern.de/idb/default.html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DE890E5-4BD6-2A96-47A4-1287A16543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72584" y="950977"/>
            <a:ext cx="5081016" cy="5731314"/>
          </a:xfrm>
        </p:spPr>
      </p:pic>
      <p:pic>
        <p:nvPicPr>
          <p:cNvPr id="3075" name="Picture 3" descr="C:\Users\kebf\AppData\Local\Microsoft\Windows\Temporary Internet Files\Content.IE5\2CIKXM3B\qrcode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3" y="4108880"/>
            <a:ext cx="1993037" cy="199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2319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Faktoransprüche Milchkuh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72480" y="1628800"/>
            <a:ext cx="9481120" cy="4467201"/>
          </a:xfrm>
        </p:spPr>
        <p:txBody>
          <a:bodyPr/>
          <a:lstStyle/>
          <a:p>
            <a:r>
              <a:rPr lang="de-DE" sz="2400" b="1" dirty="0"/>
              <a:t>Arbeit:</a:t>
            </a:r>
          </a:p>
          <a:p>
            <a:pPr lvl="1"/>
            <a:r>
              <a:rPr lang="de-DE" sz="2400" dirty="0"/>
              <a:t>Ca. 50 AKh/ Kuh und Jahr</a:t>
            </a:r>
          </a:p>
          <a:p>
            <a:r>
              <a:rPr lang="de-DE" sz="2400" b="1" dirty="0"/>
              <a:t>Fläche:</a:t>
            </a:r>
          </a:p>
          <a:p>
            <a:pPr lvl="1"/>
            <a:r>
              <a:rPr lang="de-DE" sz="2400" dirty="0"/>
              <a:t>0,4 – 0,7 ha/ Kuh und Jahr</a:t>
            </a:r>
          </a:p>
          <a:p>
            <a:r>
              <a:rPr lang="de-DE" sz="2400" b="1" dirty="0"/>
              <a:t>Kapital:</a:t>
            </a:r>
          </a:p>
          <a:p>
            <a:pPr lvl="1"/>
            <a:r>
              <a:rPr lang="de-DE" sz="2400" dirty="0"/>
              <a:t>1 Stallplatz ganzjährig</a:t>
            </a:r>
          </a:p>
          <a:p>
            <a:pPr lvl="1"/>
            <a:r>
              <a:rPr lang="de-DE" sz="2400" dirty="0"/>
              <a:t>Umlaufvermögen (Vorräte, Variable Kosten anteilig)</a:t>
            </a:r>
          </a:p>
        </p:txBody>
      </p:sp>
    </p:spTree>
    <p:extLst>
      <p:ext uri="{BB962C8B-B14F-4D97-AF65-F5344CB8AC3E}">
        <p14:creationId xmlns:p14="http://schemas.microsoft.com/office/powerpoint/2010/main" val="17603528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00118-4C7D-5783-AD15-48CAB2B4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Faktoransprüche Milchkuh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46C749-1C5C-DDA7-7E53-881D94FD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088758"/>
            <a:ext cx="9601201" cy="4960883"/>
          </a:xfrm>
        </p:spPr>
        <p:txBody>
          <a:bodyPr/>
          <a:lstStyle/>
          <a:p>
            <a:pPr marL="0" indent="0">
              <a:buNone/>
            </a:pPr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2400" b="0" i="0" u="none" strike="noStrike" baseline="0" dirty="0">
                <a:solidFill>
                  <a:srgbClr val="000000"/>
                </a:solidFill>
              </a:rPr>
              <a:t>Faktoransprüche = begrenzende Kapazitäten </a:t>
            </a:r>
          </a:p>
          <a:p>
            <a:pPr marL="0" indent="0">
              <a:buNone/>
            </a:pPr>
            <a:endParaRPr lang="de-DE" sz="2000" b="0" i="0" u="none" strike="noStrike" baseline="0" dirty="0">
              <a:solidFill>
                <a:srgbClr val="00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2400" b="0" i="0" u="none" strike="noStrike" baseline="0" dirty="0">
                <a:solidFill>
                  <a:srgbClr val="000000"/>
                </a:solidFill>
              </a:rPr>
              <a:t>Jeder landwirtschaftliche Betrieb ist mit einer bestimmten Menge an Produktionsmitteln ausgestattet.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2400" b="0" i="0" u="none" strike="noStrike" baseline="0" dirty="0">
                <a:solidFill>
                  <a:srgbClr val="000000"/>
                </a:solidFill>
              </a:rPr>
              <a:t>Ansprüche des Produktionsverfahrens an in der Regel knappe Produktionsfaktoren, z.B. Bedarf an Platz in vorhandenen Gebäuden, an Fläche oder Familienarbeitskraftstunden.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95449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52402" y="1123085"/>
            <a:ext cx="9601201" cy="51694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2400" dirty="0"/>
              <a:t>Beispiele: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de-DE" sz="2400" b="1" dirty="0"/>
              <a:t>Milchkuhhaltung:</a:t>
            </a:r>
          </a:p>
          <a:p>
            <a:pPr lvl="1"/>
            <a:r>
              <a:rPr lang="de-DE" sz="2400" dirty="0"/>
              <a:t>1 Stallplatz pro Kuh und Jahr</a:t>
            </a:r>
          </a:p>
          <a:p>
            <a:pPr lvl="1"/>
            <a:r>
              <a:rPr lang="de-DE" sz="2400" dirty="0"/>
              <a:t>Kapital: 20.000 € / Kuhplatz </a:t>
            </a:r>
          </a:p>
          <a:p>
            <a:pPr lvl="1"/>
            <a:r>
              <a:rPr lang="de-DE" sz="2400" dirty="0"/>
              <a:t>Arbeit: 50 AKh/Milchkuh und Jahr</a:t>
            </a:r>
          </a:p>
          <a:p>
            <a:pPr lvl="1"/>
            <a:r>
              <a:rPr lang="de-DE" sz="2400" dirty="0"/>
              <a:t>Grundfutterfläche: 0,4 bis 0,7 ha / Kuh und Jahr</a:t>
            </a:r>
          </a:p>
          <a:p>
            <a:pPr lvl="1"/>
            <a:endParaRPr lang="de-DE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sz="2400" b="1" dirty="0"/>
              <a:t>Kalbinnenaufzucht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1 Stallplatz für 27 Monate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Kapital: 2.500 €/Stallplatz für eine erzeugte Kalbin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Arbeit: 22 </a:t>
            </a:r>
            <a:r>
              <a:rPr lang="de-DE" sz="2400" dirty="0" err="1"/>
              <a:t>AKh</a:t>
            </a:r>
            <a:r>
              <a:rPr lang="de-DE" sz="2400" dirty="0"/>
              <a:t>/erzeugter Kalbin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Grundfutterfläche: 0,4 bis 0,7 ha/erzeugte Kalbin </a:t>
            </a:r>
          </a:p>
          <a:p>
            <a:pPr lvl="1"/>
            <a:endParaRPr lang="de-DE" sz="2400" dirty="0"/>
          </a:p>
          <a:p>
            <a:pPr lvl="1"/>
            <a:endParaRPr lang="de-DE" sz="3200" dirty="0"/>
          </a:p>
          <a:p>
            <a:pPr marL="0" lvl="0" indent="0">
              <a:buNone/>
            </a:pPr>
            <a:endParaRPr lang="de-DE" sz="320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9313ABE-1445-DF98-7AAB-0CD36F65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/>
              <a:t>Faktoransprüche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44849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8CCAF7-D472-83C9-5B9F-6175FE1C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/>
              <a:t>Faktoransprüche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E5F6C2-5D6B-10DE-CA85-746E2BE9A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de-DE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200" b="1" dirty="0"/>
              <a:t>Bullenmast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200" dirty="0"/>
              <a:t>1,33 Stallplätze/ erzeugter Mastbulle (bei 16 Monaten Mastdauer)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200" dirty="0"/>
              <a:t>Kapital: 3.000 €/Mastplatz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200" dirty="0"/>
              <a:t>Arbeit: 9,5 </a:t>
            </a:r>
            <a:r>
              <a:rPr lang="de-DE" sz="2200" dirty="0" err="1"/>
              <a:t>AKh</a:t>
            </a:r>
            <a:r>
              <a:rPr lang="de-DE" sz="2200" dirty="0"/>
              <a:t>/erzeugter Bulle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200" dirty="0"/>
              <a:t>Grundfutterfläche (Intensivmast maisbetont): ca. 0,2 ha/Mastbulle </a:t>
            </a:r>
          </a:p>
          <a:p>
            <a:endParaRPr lang="de-DE" sz="180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2200" b="1" dirty="0"/>
              <a:t>Qualitätsweizen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2200" dirty="0"/>
              <a:t>1 ha Ackerfläche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sz="2200" dirty="0"/>
              <a:t>9,15 </a:t>
            </a:r>
            <a:r>
              <a:rPr lang="de-DE" sz="2200" dirty="0" err="1"/>
              <a:t>Akh</a:t>
            </a:r>
            <a:r>
              <a:rPr lang="de-DE" sz="2200" dirty="0"/>
              <a:t>/ha</a:t>
            </a:r>
          </a:p>
        </p:txBody>
      </p:sp>
    </p:spTree>
    <p:extLst>
      <p:ext uri="{BB962C8B-B14F-4D97-AF65-F5344CB8AC3E}">
        <p14:creationId xmlns:p14="http://schemas.microsoft.com/office/powerpoint/2010/main" val="908900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F6EC5-58E4-D4B3-5295-09C9FC52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Faktorverwertung </a:t>
            </a:r>
            <a:endParaRPr lang="de-DE" sz="4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FD5941-51B8-9B5A-8640-615AFA824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Den Maßstab für die Wettbewerbsfähigkeit der Produktionsverfahren unter den konkreten Gegebenheiten des Einzelbetriebes bildet die Faktorverwertung. </a:t>
            </a: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de-DE" sz="2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		Deckungsbeitrag / Einheit</a:t>
            </a:r>
            <a:endParaRPr lang="de-DE" sz="2200" b="0" i="0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Faktorverwertung =  		</a:t>
            </a:r>
            <a:r>
              <a:rPr lang="de-DE" sz="2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_____________________</a:t>
            </a:r>
            <a:r>
              <a:rPr lang="de-DE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		</a:t>
            </a:r>
          </a:p>
          <a:p>
            <a:pPr marL="0" indent="0">
              <a:buNone/>
            </a:pPr>
            <a:r>
              <a:rPr lang="de-DE" sz="2200" dirty="0">
                <a:solidFill>
                  <a:srgbClr val="000000"/>
                </a:solidFill>
                <a:latin typeface="Arial" panose="020B0604020202020204" pitchFamily="34" charset="0"/>
              </a:rPr>
              <a:t>				</a:t>
            </a:r>
            <a:r>
              <a:rPr lang="de-DE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Faktoranspruch/ Einheit 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6801510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FA2C3D-D852-408C-C6A1-3372DD68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Faktorverwertung</a:t>
            </a: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E19605F3-B2E1-3C9F-F1C8-959E5C4A0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9454887"/>
              </p:ext>
            </p:extLst>
          </p:nvPr>
        </p:nvGraphicFramePr>
        <p:xfrm>
          <a:off x="152400" y="1837945"/>
          <a:ext cx="9601199" cy="382621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716750448"/>
                    </a:ext>
                  </a:extLst>
                </a:gridCol>
                <a:gridCol w="1496568">
                  <a:extLst>
                    <a:ext uri="{9D8B030D-6E8A-4147-A177-3AD203B41FA5}">
                      <a16:colId xmlns:a16="http://schemas.microsoft.com/office/drawing/2014/main" val="105596901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34776333"/>
                    </a:ext>
                  </a:extLst>
                </a:gridCol>
                <a:gridCol w="1718071">
                  <a:extLst>
                    <a:ext uri="{9D8B030D-6E8A-4147-A177-3AD203B41FA5}">
                      <a16:colId xmlns:a16="http://schemas.microsoft.com/office/drawing/2014/main" val="3634572432"/>
                    </a:ext>
                  </a:extLst>
                </a:gridCol>
                <a:gridCol w="1952124">
                  <a:extLst>
                    <a:ext uri="{9D8B030D-6E8A-4147-A177-3AD203B41FA5}">
                      <a16:colId xmlns:a16="http://schemas.microsoft.com/office/drawing/2014/main" val="4067499394"/>
                    </a:ext>
                  </a:extLst>
                </a:gridCol>
                <a:gridCol w="1877164">
                  <a:extLst>
                    <a:ext uri="{9D8B030D-6E8A-4147-A177-3AD203B41FA5}">
                      <a16:colId xmlns:a16="http://schemas.microsoft.com/office/drawing/2014/main" val="35109301"/>
                    </a:ext>
                  </a:extLst>
                </a:gridCol>
              </a:tblGrid>
              <a:tr h="355534">
                <a:tc rowSpan="3"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Produktions-</a:t>
                      </a:r>
                      <a:endParaRPr lang="de-DE" sz="1400" dirty="0">
                        <a:effectLst/>
                      </a:endParaRPr>
                    </a:p>
                    <a:p>
                      <a:pPr algn="ctr"/>
                      <a:r>
                        <a:rPr lang="de-DE" sz="1600" dirty="0">
                          <a:effectLst/>
                        </a:rPr>
                        <a:t>verfahren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Deckungs-</a:t>
                      </a:r>
                      <a:endParaRPr lang="de-DE" sz="1400" dirty="0">
                        <a:effectLst/>
                      </a:endParaRPr>
                    </a:p>
                    <a:p>
                      <a:pPr algn="ctr"/>
                      <a:r>
                        <a:rPr lang="de-DE" sz="1600" dirty="0" err="1">
                          <a:effectLst/>
                        </a:rPr>
                        <a:t>beitrag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>
                          <a:effectLst/>
                        </a:rPr>
                        <a:t>Faktoranspruch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>
                          <a:effectLst/>
                        </a:rPr>
                        <a:t>Faktorverwertung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86721"/>
                  </a:ext>
                </a:extLst>
              </a:tr>
              <a:tr h="316707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Arbeit</a:t>
                      </a:r>
                      <a:endParaRPr lang="de-DE" sz="1400" dirty="0">
                        <a:effectLst/>
                      </a:endParaRPr>
                    </a:p>
                    <a:p>
                      <a:pPr algn="ctr"/>
                      <a:r>
                        <a:rPr lang="de-DE" sz="1600" dirty="0" err="1">
                          <a:effectLst/>
                        </a:rPr>
                        <a:t>Akh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Fläche</a:t>
                      </a:r>
                      <a:endParaRPr lang="de-DE" sz="1400" dirty="0">
                        <a:effectLst/>
                      </a:endParaRPr>
                    </a:p>
                    <a:p>
                      <a:pPr algn="ctr"/>
                      <a:r>
                        <a:rPr lang="de-DE" sz="1600" dirty="0">
                          <a:effectLst/>
                        </a:rPr>
                        <a:t>ha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Arbeit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Fläche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1300379647"/>
                  </a:ext>
                </a:extLst>
              </a:tr>
              <a:tr h="489371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€/ Akh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€/ ha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191362087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Milchkuh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3.320 €/ Kuh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50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0,48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66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6.917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3259485552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Mastbulle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1.300 €/ Bulle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15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0,2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87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6.500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1526440850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Mutterkuh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1.000 €/ Kuh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25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40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3950501425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Winterweizen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815 €/ ha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10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82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382227092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Wintergerste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450 €/ ha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10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45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1065625894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Raps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875 €/ ha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11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 80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2245197671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Speisekartoffeln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5000 €/ ha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30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effectLst/>
                        </a:rPr>
                        <a:t>1</a:t>
                      </a:r>
                      <a:endParaRPr lang="de-DE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effectLst/>
                        </a:rPr>
                        <a:t> 167</a:t>
                      </a:r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12" marR="57012" marT="0" marB="0" anchor="ctr"/>
                </a:tc>
                <a:extLst>
                  <a:ext uri="{0D108BD9-81ED-4DB2-BD59-A6C34878D82A}">
                    <a16:rowId xmlns:a16="http://schemas.microsoft.com/office/drawing/2014/main" val="1186124010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C8BA8A78-D307-62C1-2156-77F0EEE5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5416" y="2336991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A99AE10-DEC5-99B8-2507-67BA91F3041A}"/>
              </a:ext>
            </a:extLst>
          </p:cNvPr>
          <p:cNvSpPr txBox="1"/>
          <p:nvPr/>
        </p:nvSpPr>
        <p:spPr>
          <a:xfrm>
            <a:off x="397764" y="1193846"/>
            <a:ext cx="667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effectLst/>
                <a:latin typeface="+mn-lt"/>
                <a:ea typeface="Calibri" panose="020F0502020204030204" pitchFamily="34" charset="0"/>
              </a:rPr>
              <a:t>Berechnen Sie die jeweilige Faktorverwertung:</a:t>
            </a:r>
            <a:endParaRPr lang="de-DE" sz="2000" dirty="0">
              <a:effectLst/>
              <a:latin typeface="+mn-lt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1934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B9FAD-A5E7-15D4-BB20-E7CEE5E8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Faktorverwertung</a:t>
            </a: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0B2E6736-C98D-135E-51D3-6FDCC9DF8E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0877256"/>
              </p:ext>
            </p:extLst>
          </p:nvPr>
        </p:nvGraphicFramePr>
        <p:xfrm>
          <a:off x="201168" y="2514600"/>
          <a:ext cx="9529416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29416">
                  <a:extLst>
                    <a:ext uri="{9D8B030D-6E8A-4147-A177-3AD203B41FA5}">
                      <a16:colId xmlns:a16="http://schemas.microsoft.com/office/drawing/2014/main" val="2140923794"/>
                    </a:ext>
                  </a:extLst>
                </a:gridCol>
              </a:tblGrid>
              <a:tr h="875824">
                <a:tc>
                  <a:txBody>
                    <a:bodyPr/>
                    <a:lstStyle/>
                    <a:p>
                      <a:pPr algn="ctr"/>
                      <a:r>
                        <a:rPr lang="de-DE" sz="2400" b="1" dirty="0">
                          <a:effectLst/>
                        </a:rPr>
                        <a:t>Für die Beurteilung der Wirtschaftlichkeit eines Produktionsverfahrens im Einzelbetrieb ist stets die Höhe eines Deckungsbeitrages bezogen auf den knappsten Produktionsfaktor maßgebend.</a:t>
                      </a:r>
                      <a:endParaRPr lang="de-DE" sz="2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8570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9454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268D-3ED7-C30E-A73C-131EBB31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0BDE0-D895-ADC8-EC9D-4708C8F43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Abschlussprüfungsfragen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5D82262-B205-CDEE-8320-16990409B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sz="2400" dirty="0"/>
              <a:t>Warum berechnet ein landwirtschaftlicher Betriebsleiter Deckungsbeiträge von seinen verschiedenen Betriebszweigen? (3 Nennungen)	         	(3 Punkte)</a:t>
            </a:r>
          </a:p>
          <a:p>
            <a:pPr marL="514350" indent="-514350">
              <a:buFont typeface="+mj-lt"/>
              <a:buAutoNum type="arabicPeriod"/>
            </a:pPr>
            <a:endParaRPr lang="de-DE" sz="2400" dirty="0"/>
          </a:p>
          <a:p>
            <a:pPr lvl="0">
              <a:buFont typeface="Arial" panose="020B0604020202020204" pitchFamily="34" charset="0"/>
              <a:buChar char="•"/>
              <a:tabLst>
                <a:tab pos="3771900" algn="l"/>
              </a:tabLst>
            </a:pPr>
            <a:r>
              <a:rPr lang="de-DE" sz="24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Vergleich verschiedener Produktionsverfahren im Betrieb</a:t>
            </a:r>
          </a:p>
          <a:p>
            <a:pPr lvl="0">
              <a:buFont typeface="Arial" panose="020B0604020202020204" pitchFamily="34" charset="0"/>
              <a:buChar char="•"/>
              <a:tabLst>
                <a:tab pos="3771900" algn="l"/>
              </a:tabLst>
            </a:pPr>
            <a:r>
              <a:rPr lang="de-DE" sz="24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Berechnung der Faktorverwertung (</a:t>
            </a:r>
            <a:r>
              <a:rPr lang="de-DE" sz="2400" i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AKh</a:t>
            </a:r>
            <a:r>
              <a:rPr lang="de-DE" sz="24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Fläche)</a:t>
            </a:r>
          </a:p>
          <a:p>
            <a:pPr lvl="0">
              <a:buFont typeface="Arial" panose="020B0604020202020204" pitchFamily="34" charset="0"/>
              <a:buChar char="•"/>
              <a:tabLst>
                <a:tab pos="3771900" algn="l"/>
              </a:tabLst>
            </a:pPr>
            <a:r>
              <a:rPr lang="de-DE" sz="24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Beurteilung der Wirtschaftlichkeit von Produktionsverfahren</a:t>
            </a:r>
          </a:p>
          <a:p>
            <a:pPr lvl="0">
              <a:buFont typeface="Arial" panose="020B0604020202020204" pitchFamily="34" charset="0"/>
              <a:buChar char="•"/>
              <a:tabLst>
                <a:tab pos="3771900" algn="l"/>
              </a:tabLst>
            </a:pPr>
            <a:r>
              <a:rPr lang="de-DE" sz="24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Deckungsbeitragsvergleich mit anderen Betrieben </a:t>
            </a:r>
          </a:p>
          <a:p>
            <a:pPr lvl="0">
              <a:buFont typeface="Arial" panose="020B0604020202020204" pitchFamily="34" charset="0"/>
              <a:buChar char="•"/>
              <a:tabLst>
                <a:tab pos="3771900" algn="l"/>
              </a:tabLst>
            </a:pPr>
            <a:r>
              <a:rPr lang="de-DE" sz="24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Zukunftsplanung für den Betrieb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22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2103-B85F-2C1D-2099-C20AE2AE7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95D999-7D8B-939C-1D49-86BCE0C9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Abschlussprüfungsfragen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F67D48-1536-9506-8ABD-B89B67EA3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sz="2400" dirty="0"/>
              <a:t>Die Deckungsbeitragsrechnung stellt eine Möglichkeit der Kostenrechnung dar.</a:t>
            </a:r>
          </a:p>
          <a:p>
            <a:pPr marL="801688" lvl="1" indent="-514350">
              <a:buAutoNum type="alphaLcPeriod"/>
            </a:pPr>
            <a:r>
              <a:rPr lang="de-DE" sz="2400" dirty="0"/>
              <a:t>Nennen Sie zwei Vorteile dieses Rechnungssystems für den Landwirt.</a:t>
            </a:r>
          </a:p>
          <a:p>
            <a:pPr marL="801688" lvl="1" indent="-514350">
              <a:buAutoNum type="alphaLcPeriod"/>
            </a:pPr>
            <a:r>
              <a:rPr lang="de-DE" sz="2400" dirty="0"/>
              <a:t>Welche Voraussetzung muss man erfüllen, damit der DB auch für den überbetrieblichen Vergleich herangezogen werden kann?</a:t>
            </a:r>
          </a:p>
          <a:p>
            <a:pPr marL="0" indent="0">
              <a:buNone/>
            </a:pPr>
            <a:r>
              <a:rPr lang="de-DE" sz="2400" i="1" dirty="0">
                <a:solidFill>
                  <a:srgbClr val="0070C0"/>
                </a:solidFill>
                <a:latin typeface="Arial" panose="020B0604020202020204" pitchFamily="34" charset="0"/>
              </a:rPr>
              <a:t>1a)	</a:t>
            </a:r>
            <a:r>
              <a:rPr lang="de-DE" sz="24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Vergleich verschiedener Produktionsverfahren im Betrieb</a:t>
            </a:r>
          </a:p>
          <a:p>
            <a:pPr marL="0" indent="0">
              <a:buNone/>
            </a:pPr>
            <a:r>
              <a:rPr lang="de-DE" sz="2400" i="1" dirty="0">
                <a:solidFill>
                  <a:srgbClr val="0070C0"/>
                </a:solidFill>
                <a:latin typeface="Arial" panose="020B0604020202020204" pitchFamily="34" charset="0"/>
              </a:rPr>
              <a:t>	</a:t>
            </a:r>
            <a:r>
              <a:rPr lang="de-DE" sz="2400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Beurteilung der Wirtschaftlichkeit von Produktionsverfahren</a:t>
            </a:r>
          </a:p>
          <a:p>
            <a:pPr marL="0" indent="0">
              <a:buNone/>
            </a:pPr>
            <a:r>
              <a:rPr lang="de-DE" sz="2400" i="1" dirty="0">
                <a:solidFill>
                  <a:srgbClr val="0070C0"/>
                </a:solidFill>
                <a:latin typeface="Arial" panose="020B0604020202020204" pitchFamily="34" charset="0"/>
              </a:rPr>
              <a:t>	Relativ einfach</a:t>
            </a:r>
          </a:p>
          <a:p>
            <a:pPr marL="0" indent="0">
              <a:buNone/>
            </a:pPr>
            <a:r>
              <a:rPr lang="de-DE" sz="2400" i="1" dirty="0">
                <a:solidFill>
                  <a:srgbClr val="0070C0"/>
                </a:solidFill>
                <a:latin typeface="Arial" panose="020B0604020202020204" pitchFamily="34" charset="0"/>
              </a:rPr>
              <a:t>1b)	</a:t>
            </a:r>
            <a:r>
              <a:rPr lang="de-DE" sz="2400" i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Berechnung des eigenen DB nach vorgegebener Systematik: 	Überbetrieblicher Vergleich möglich </a:t>
            </a:r>
            <a:endParaRPr lang="de-DE" sz="2400" i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de-DE" sz="24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85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Abschlussprüfung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5" y="930165"/>
            <a:ext cx="9601200" cy="281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585705"/>
      </p:ext>
    </p:extLst>
  </p:cSld>
  <p:clrMapOvr>
    <a:masterClrMapping/>
  </p:clrMapOvr>
</p:sld>
</file>

<file path=ppt/theme/theme1.xml><?xml version="1.0" encoding="utf-8"?>
<a:theme xmlns:a="http://schemas.openxmlformats.org/drawingml/2006/main" name="ALF_quer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ALF_quer</Template>
  <TotalTime>0</TotalTime>
  <Words>2842</Words>
  <Application>Microsoft Office PowerPoint</Application>
  <PresentationFormat>A4-Papier (210 x 297 mm)</PresentationFormat>
  <Paragraphs>944</Paragraphs>
  <Slides>64</Slides>
  <Notes>27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64</vt:i4>
      </vt:variant>
    </vt:vector>
  </HeadingPairs>
  <TitlesOfParts>
    <vt:vector size="74" baseType="lpstr">
      <vt:lpstr>Arial</vt:lpstr>
      <vt:lpstr>BrandonTextWeb-Bold</vt:lpstr>
      <vt:lpstr>Calibri</vt:lpstr>
      <vt:lpstr>Courier New</vt:lpstr>
      <vt:lpstr>Open Sans</vt:lpstr>
      <vt:lpstr>Times New Roman</vt:lpstr>
      <vt:lpstr>Verdana</vt:lpstr>
      <vt:lpstr>Wingdings</vt:lpstr>
      <vt:lpstr>ALF_quer</vt:lpstr>
      <vt:lpstr>Benutzerdefiniertes Design</vt:lpstr>
      <vt:lpstr>Betriebswirtschaftliche Grundlagen</vt:lpstr>
      <vt:lpstr>Inhalt</vt:lpstr>
      <vt:lpstr>Produktionsverfahren</vt:lpstr>
      <vt:lpstr>Produktionsverfahren - Übung</vt:lpstr>
      <vt:lpstr>Produktionsverfahren – Übung </vt:lpstr>
      <vt:lpstr>Produktionsverfahren – Übung </vt:lpstr>
      <vt:lpstr>Kenndaten eines Produktionsverfahrens</vt:lpstr>
      <vt:lpstr>Kenndaten eines Produktionsverfahrens</vt:lpstr>
      <vt:lpstr>Produktionsverfahren </vt:lpstr>
      <vt:lpstr>Kenndaten eines Produktionsverfahrens</vt:lpstr>
      <vt:lpstr>Kenndaten eines Produktionsverfahrens</vt:lpstr>
      <vt:lpstr>Deckungsbeitrag</vt:lpstr>
      <vt:lpstr>Deckungsbeitrag</vt:lpstr>
      <vt:lpstr>Deckungsbeitrag</vt:lpstr>
      <vt:lpstr>Deckungsbeitrag</vt:lpstr>
      <vt:lpstr>Aufbau eines Deckungsbeitrages</vt:lpstr>
      <vt:lpstr>Gesamtdeckungsbeitrag </vt:lpstr>
      <vt:lpstr>Marktleistungen Milchkuh</vt:lpstr>
      <vt:lpstr>Milcherlös</vt:lpstr>
      <vt:lpstr>Milcherlös</vt:lpstr>
      <vt:lpstr>Altkuherlös</vt:lpstr>
      <vt:lpstr>Altkuherlös</vt:lpstr>
      <vt:lpstr> </vt:lpstr>
      <vt:lpstr>Berechnung Altkuherlös</vt:lpstr>
      <vt:lpstr>Berechnung Altkuherlös</vt:lpstr>
      <vt:lpstr>Kälbererlös</vt:lpstr>
      <vt:lpstr>Kälbererlös</vt:lpstr>
      <vt:lpstr>PowerPoint-Präsentation</vt:lpstr>
      <vt:lpstr>Berechnung Kälbererlös</vt:lpstr>
      <vt:lpstr>Berechnung Kälbererlös</vt:lpstr>
      <vt:lpstr>Wirtschaftsdünger</vt:lpstr>
      <vt:lpstr>Wirtschaftsdünger</vt:lpstr>
      <vt:lpstr>Kalkulation Düngewert Stall frei Feld</vt:lpstr>
      <vt:lpstr>Variable Kosten</vt:lpstr>
      <vt:lpstr>Bestandsergänzung</vt:lpstr>
      <vt:lpstr>Bestandsergänzung</vt:lpstr>
      <vt:lpstr>Kälberaufzucht</vt:lpstr>
      <vt:lpstr>Kälberaufzucht</vt:lpstr>
      <vt:lpstr>Kraftfutterkosten</vt:lpstr>
      <vt:lpstr>Kraftfutterkosten</vt:lpstr>
      <vt:lpstr>Tierarzt</vt:lpstr>
      <vt:lpstr>Tierarzt</vt:lpstr>
      <vt:lpstr>Wasser und Strom</vt:lpstr>
      <vt:lpstr>Variable Maschinenkosten</vt:lpstr>
      <vt:lpstr>Gebühren und Beiträge</vt:lpstr>
      <vt:lpstr>Deckungsbeitrag I</vt:lpstr>
      <vt:lpstr>Deckungsbeitrag I</vt:lpstr>
      <vt:lpstr>Deckungsbeitrag II</vt:lpstr>
      <vt:lpstr>Deckungsbeitrag II</vt:lpstr>
      <vt:lpstr>Grobfutterkosten</vt:lpstr>
      <vt:lpstr>Berechnungsbeispiel</vt:lpstr>
      <vt:lpstr>Standard-Deckungsbeitrag </vt:lpstr>
      <vt:lpstr>Berechnungsbeispiel</vt:lpstr>
      <vt:lpstr>LfL-Deckungsbeitragsrechner</vt:lpstr>
      <vt:lpstr>Faktoransprüche Milchkuh</vt:lpstr>
      <vt:lpstr>Faktoransprüche Milchkuh</vt:lpstr>
      <vt:lpstr>Faktoransprüche</vt:lpstr>
      <vt:lpstr>Faktoransprüche</vt:lpstr>
      <vt:lpstr>Faktorverwertung </vt:lpstr>
      <vt:lpstr>Faktorverwertung</vt:lpstr>
      <vt:lpstr>Faktorverwertung</vt:lpstr>
      <vt:lpstr>Abschlussprüfungsfragen</vt:lpstr>
      <vt:lpstr>Abschlussprüfungsfragen</vt:lpstr>
      <vt:lpstr>Abschlussprüfung</vt:lpstr>
    </vt:vector>
  </TitlesOfParts>
  <Company>StMLF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Empfehlungen zum visuellen Aufbau</dc:title>
  <dc:creator>PHWJ</dc:creator>
  <cp:lastModifiedBy>Zimmermann, Stefan (aelf-wm)</cp:lastModifiedBy>
  <cp:revision>297</cp:revision>
  <cp:lastPrinted>2023-09-27T14:25:16Z</cp:lastPrinted>
  <dcterms:created xsi:type="dcterms:W3CDTF">2008-09-03T11:49:04Z</dcterms:created>
  <dcterms:modified xsi:type="dcterms:W3CDTF">2025-09-25T13:56:10Z</dcterms:modified>
  <cp:category>ALF-Vorlagen</cp:category>
</cp:coreProperties>
</file>